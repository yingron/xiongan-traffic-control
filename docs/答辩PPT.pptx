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3.svg" ContentType="image/svg+xml"/>
  <Override PartName="/ppt/media/image15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6" r:id="rId15"/>
    <p:sldId id="277" r:id="rId16"/>
    <p:sldId id="278" r:id="rId17"/>
    <p:sldId id="279" r:id="rId18"/>
    <p:sldId id="280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仅标题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0" y="1283096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144764" y="1488299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研究背景与意义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144764" y="2679405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研究特色与思路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144764" y="3798374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实验设计与结果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144764" y="4917343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7" name="等腰三角形 26"/>
          <p:cNvSpPr>
            <a:spLocks noGrp="1"/>
          </p:cNvSpPr>
          <p:nvPr/>
        </p:nvSpPr>
        <p:spPr>
          <a:xfrm flipH="1" flipV="1">
            <a:off x="1920046" y="2068591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仅标题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144764" y="148212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研究背景与意义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144764" y="3798374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实验设计与结果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144764" y="4917343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-15240" y="2442767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95846" y="2666448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研究特色与思路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6" name="等腰三角形 5"/>
          <p:cNvSpPr>
            <a:spLocks noGrp="1"/>
          </p:cNvSpPr>
          <p:nvPr/>
        </p:nvSpPr>
        <p:spPr>
          <a:xfrm flipH="1" flipV="1">
            <a:off x="1904806" y="3228262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仅标题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144764" y="2679405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研究特色与思路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144764" y="4917343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0" y="3601589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144764" y="3806792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实验设计与结果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20046" y="4387084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44764" y="1480564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研究背景与意义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仅标题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144764" y="2679405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研究特色与思路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144764" y="3798374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实验设计与结果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-18762" y="4683412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126002" y="4888615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应用价值与展望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01284" y="5517032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144764" y="148212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研究背景与意义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-1" y="1954565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20045" y="2740060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144763" y="1294227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>
            <a:lvl1pPr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lvl="0">
              <a:buNone/>
            </a:pPr>
            <a:r>
              <a:t>研究背景与意义</a:t>
            </a: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144763" y="2203558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理论与核心方法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pic>
        <p:nvPicPr>
          <p:cNvPr id="23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1181" y="502842"/>
            <a:ext cx="1490612" cy="437963"/>
          </a:xfrm>
          <a:prstGeom prst="rect">
            <a:avLst/>
          </a:prstGeom>
        </p:spPr>
      </p:pic>
      <p:sp>
        <p:nvSpPr>
          <p:cNvPr id="3" name="文本框 2"/>
          <p:cNvSpPr>
            <a:spLocks noGrp="1"/>
          </p:cNvSpPr>
          <p:nvPr/>
        </p:nvSpPr>
        <p:spPr>
          <a:xfrm>
            <a:off x="144763" y="3112889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实验设计与实施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144763" y="4022220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核心成果与发现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144763" y="493155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应用价值与创新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144763" y="584088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总结与未来展望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-1" y="2901986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20045" y="3687481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144763" y="3112889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>
            <a:lvl1pPr>
              <a:buNone/>
              <a:def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lvl="0">
              <a:buNone/>
            </a:pPr>
            <a:r>
              <a:t>实验设计与实施</a:t>
            </a:r>
          </a:p>
        </p:txBody>
      </p:sp>
      <p:pic>
        <p:nvPicPr>
          <p:cNvPr id="37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1181" y="502842"/>
            <a:ext cx="1490612" cy="437963"/>
          </a:xfrm>
          <a:prstGeom prst="rect">
            <a:avLst/>
          </a:prstGeom>
        </p:spPr>
      </p:pic>
      <p:sp>
        <p:nvSpPr>
          <p:cNvPr id="25" name="文本框 24"/>
          <p:cNvSpPr>
            <a:spLocks noGrp="1"/>
          </p:cNvSpPr>
          <p:nvPr/>
        </p:nvSpPr>
        <p:spPr>
          <a:xfrm>
            <a:off x="144763" y="1294227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>
            <a:lvl1pPr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lvl="0">
              <a:buNone/>
            </a:pPr>
            <a:r>
              <a:t>研究背景与意义</a:t>
            </a:r>
          </a:p>
        </p:txBody>
      </p:sp>
      <p:sp>
        <p:nvSpPr>
          <p:cNvPr id="28" name="文本框 27"/>
          <p:cNvSpPr>
            <a:spLocks noGrp="1"/>
          </p:cNvSpPr>
          <p:nvPr/>
        </p:nvSpPr>
        <p:spPr>
          <a:xfrm>
            <a:off x="144763" y="4022220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核心成果与发现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44763" y="493155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应用价值与创新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144763" y="584088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总结与未来展望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31" name="文本框 30"/>
          <p:cNvSpPr>
            <a:spLocks noGrp="1"/>
          </p:cNvSpPr>
          <p:nvPr/>
        </p:nvSpPr>
        <p:spPr>
          <a:xfrm>
            <a:off x="144763" y="2203558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理论与核心方法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3775273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20046" y="4560768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144763" y="4022220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核心成果与发现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pic>
        <p:nvPicPr>
          <p:cNvPr id="27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1181" y="502842"/>
            <a:ext cx="1490612" cy="437963"/>
          </a:xfrm>
          <a:prstGeom prst="rect">
            <a:avLst/>
          </a:prstGeom>
        </p:spPr>
      </p:pic>
      <p:sp>
        <p:nvSpPr>
          <p:cNvPr id="16" name="文本框 15"/>
          <p:cNvSpPr>
            <a:spLocks noGrp="1"/>
          </p:cNvSpPr>
          <p:nvPr/>
        </p:nvSpPr>
        <p:spPr>
          <a:xfrm>
            <a:off x="144763" y="1294227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>
            <a:lvl1pPr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lvl="0">
              <a:buNone/>
            </a:pPr>
            <a:r>
              <a:t>研究背景与意义</a:t>
            </a: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144763" y="493155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应用价值与创新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44763" y="584088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总结与未来展望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144763" y="2203558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理论与核心方法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44763" y="3112889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实验设计与实施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4684603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20046" y="5470098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44763" y="493155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应用价值与创新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pic>
        <p:nvPicPr>
          <p:cNvPr id="27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1181" y="502842"/>
            <a:ext cx="1490612" cy="437963"/>
          </a:xfrm>
          <a:prstGeom prst="rect">
            <a:avLst/>
          </a:prstGeom>
        </p:spPr>
      </p:pic>
      <p:sp>
        <p:nvSpPr>
          <p:cNvPr id="16" name="文本框 15"/>
          <p:cNvSpPr>
            <a:spLocks noGrp="1"/>
          </p:cNvSpPr>
          <p:nvPr/>
        </p:nvSpPr>
        <p:spPr>
          <a:xfrm>
            <a:off x="144763" y="1294227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>
            <a:lvl1pPr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lvl="0">
              <a:buNone/>
            </a:pPr>
            <a:r>
              <a:t>研究背景与意义</a:t>
            </a: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144763" y="584088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总结与未来展望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44763" y="2203558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理论与核心方法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144763" y="3112889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实验设计与实施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44763" y="4022220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核心成果与发现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-1" y="5602470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20045" y="6387965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44763" y="493155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应用价值与创新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144763" y="584088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总结与未来展望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pic>
        <p:nvPicPr>
          <p:cNvPr id="22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1181" y="502842"/>
            <a:ext cx="1490612" cy="437963"/>
          </a:xfrm>
          <a:prstGeom prst="rect">
            <a:avLst/>
          </a:prstGeom>
        </p:spPr>
      </p:pic>
      <p:sp>
        <p:nvSpPr>
          <p:cNvPr id="2" name="文本框 1"/>
          <p:cNvSpPr>
            <a:spLocks noGrp="1"/>
          </p:cNvSpPr>
          <p:nvPr/>
        </p:nvSpPr>
        <p:spPr>
          <a:xfrm>
            <a:off x="144763" y="1294227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>
            <a:lvl1pPr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lvl="0">
              <a:buNone/>
            </a:pPr>
            <a:r>
              <a:t>研究背景与意义</a:t>
            </a: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144763" y="2203558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理论与核心方法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144763" y="3112889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实验设计与实施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144763" y="4022220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核心成果与发现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</a:lstStyle>
          <a:p>
            <a:fld id="{EF78665D-FCF6-474B-8AAE-8F2CCD249E99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</a:lstStyle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</a:lstStyle>
          <a:p>
            <a:fld id="{6AACD9C7-E4BB-4986-88C0-9C8BECBAF4E5}" type="slidenum">
              <a:rPr/>
            </a:fld>
            <a:endParaRPr/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695325" y="782989"/>
            <a:ext cx="10980738" cy="0"/>
          </a:xfrm>
          <a:prstGeom prst="line">
            <a:avLst/>
          </a:prstGeom>
          <a:ln w="158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0" y="6528577"/>
            <a:ext cx="2623502" cy="344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528577"/>
            <a:ext cx="3048000" cy="34466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048000" y="6533268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01837" y="653796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0" y="653796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69986" y="655163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HarmonyOS Sans SC"/>
                <a:ea typeface="HarmonyOS Sans SC"/>
                <a:cs typeface="HarmonyOS Sans SC"/>
              </a:rPr>
              <a:t>研究背景与意义</a:t>
            </a:r>
            <a:endParaRPr sz="1400">
              <a:solidFill>
                <a:schemeClr val="bg1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3417986" y="6546946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研究内容与方法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6471823" y="655163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研究结果与分析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9513986" y="655163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总结与展望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6513337"/>
            <a:ext cx="2623502" cy="344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0" y="6513337"/>
            <a:ext cx="3048000" cy="344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048000" y="6522720"/>
            <a:ext cx="3048000" cy="335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01837" y="652272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0" y="652272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369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研究背景与意义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3417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HarmonyOS Sans SC"/>
                <a:ea typeface="HarmonyOS Sans SC"/>
                <a:cs typeface="HarmonyOS Sans SC"/>
              </a:rPr>
              <a:t>研究内容与方法</a:t>
            </a:r>
            <a:endParaRPr sz="1400">
              <a:solidFill>
                <a:schemeClr val="bg1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3" name="文本框 22"/>
          <p:cNvSpPr>
            <a:spLocks noGrp="1"/>
          </p:cNvSpPr>
          <p:nvPr/>
        </p:nvSpPr>
        <p:spPr>
          <a:xfrm>
            <a:off x="6471823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研究结果与分析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4" name="文本框 23"/>
          <p:cNvSpPr>
            <a:spLocks noGrp="1"/>
          </p:cNvSpPr>
          <p:nvPr/>
        </p:nvSpPr>
        <p:spPr>
          <a:xfrm>
            <a:off x="9513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总结与展望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6513337"/>
            <a:ext cx="2623502" cy="344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0" y="6513337"/>
            <a:ext cx="3048000" cy="344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048000" y="652272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101837" y="6522720"/>
            <a:ext cx="3048000" cy="335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44000" y="652272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1" name="文本框 30"/>
          <p:cNvSpPr>
            <a:spLocks noGrp="1"/>
          </p:cNvSpPr>
          <p:nvPr/>
        </p:nvSpPr>
        <p:spPr>
          <a:xfrm>
            <a:off x="369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研究背景与意义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2" name="文本框 31"/>
          <p:cNvSpPr>
            <a:spLocks noGrp="1"/>
          </p:cNvSpPr>
          <p:nvPr/>
        </p:nvSpPr>
        <p:spPr>
          <a:xfrm>
            <a:off x="3417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研究内容与方法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3" name="文本框 32"/>
          <p:cNvSpPr>
            <a:spLocks noGrp="1"/>
          </p:cNvSpPr>
          <p:nvPr/>
        </p:nvSpPr>
        <p:spPr>
          <a:xfrm>
            <a:off x="6471823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HarmonyOS Sans SC"/>
                <a:ea typeface="HarmonyOS Sans SC"/>
                <a:cs typeface="HarmonyOS Sans SC"/>
              </a:rPr>
              <a:t>研究结果与分析</a:t>
            </a:r>
            <a:endParaRPr sz="1400">
              <a:solidFill>
                <a:schemeClr val="bg1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9513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总结与展望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6513337"/>
            <a:ext cx="2623502" cy="344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0" y="6513337"/>
            <a:ext cx="3048000" cy="344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048000" y="652272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101837" y="652272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144000" y="6522720"/>
            <a:ext cx="3048000" cy="335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1" name="文本框 40"/>
          <p:cNvSpPr>
            <a:spLocks noGrp="1"/>
          </p:cNvSpPr>
          <p:nvPr/>
        </p:nvSpPr>
        <p:spPr>
          <a:xfrm>
            <a:off x="369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研究背景与意义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2" name="文本框 41"/>
          <p:cNvSpPr>
            <a:spLocks noGrp="1"/>
          </p:cNvSpPr>
          <p:nvPr/>
        </p:nvSpPr>
        <p:spPr>
          <a:xfrm>
            <a:off x="3417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研究内容与方法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3" name="文本框 42"/>
          <p:cNvSpPr>
            <a:spLocks noGrp="1"/>
          </p:cNvSpPr>
          <p:nvPr/>
        </p:nvSpPr>
        <p:spPr>
          <a:xfrm>
            <a:off x="6471823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研究结果与分析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4" name="文本框 43"/>
          <p:cNvSpPr>
            <a:spLocks noGrp="1"/>
          </p:cNvSpPr>
          <p:nvPr/>
        </p:nvSpPr>
        <p:spPr>
          <a:xfrm>
            <a:off x="9513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HarmonyOS Sans SC"/>
                <a:ea typeface="HarmonyOS Sans SC"/>
                <a:cs typeface="HarmonyOS Sans SC"/>
              </a:rPr>
              <a:t>总结与展望</a:t>
            </a:r>
            <a:endParaRPr sz="1400">
              <a:solidFill>
                <a:schemeClr val="bg1"/>
              </a:solidFill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/>
    </p:spTree>
  </p:cSld>
  <p:clrMapOvr>
    <a:masterClrMapping/>
  </p:clrMapOvr>
  <p:hf sldNum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sv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tags" Target="../tags/tag3.xml"/><Relationship Id="rId3" Type="http://schemas.openxmlformats.org/officeDocument/2006/relationships/image" Target="../media/image8.png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4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: 圆角 6"/>
          <p:cNvSpPr>
            <a:spLocks noGrp="1"/>
          </p:cNvSpPr>
          <p:nvPr/>
        </p:nvSpPr>
        <p:spPr>
          <a:xfrm>
            <a:off x="233461" y="213360"/>
            <a:ext cx="11725078" cy="64312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233459" y="1501140"/>
            <a:ext cx="11725080" cy="3581399"/>
          </a:xfrm>
          <a:prstGeom prst="rect">
            <a:avLst/>
          </a:prstGeom>
          <a:gradFill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pic>
        <p:nvPicPr>
          <p:cNvPr id="17" name="图片 10"/>
          <p:cNvPicPr>
            <a:picLocks noChangeAspect="1"/>
          </p:cNvPicPr>
          <p:nvPr/>
        </p:nvPicPr>
        <p:blipFill>
          <a:blip r:embed="rId1">
            <a:alphaModFix amt="34000"/>
          </a:blip>
          <a:stretch>
            <a:fillRect/>
          </a:stretch>
        </p:blipFill>
        <p:spPr>
          <a:xfrm>
            <a:off x="1285653" y="1501140"/>
            <a:ext cx="9620693" cy="3581401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5082540"/>
            <a:ext cx="12192000" cy="144780"/>
          </a:xfrm>
          <a:prstGeom prst="rect">
            <a:avLst/>
          </a:prstGeom>
          <a:gradFill>
            <a:gsLst>
              <a:gs pos="59000">
                <a:schemeClr val="accent1">
                  <a:alpha val="40000"/>
                </a:schemeClr>
              </a:gs>
              <a:gs pos="97203">
                <a:schemeClr val="accent1">
                  <a:alpha val="0"/>
                </a:schemeClr>
              </a:gs>
              <a:gs pos="1000">
                <a:schemeClr val="accent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-1141415" y="2076999"/>
            <a:ext cx="144748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8000" b="1">
                <a:gradFill>
                  <a:gsLst>
                    <a:gs pos="11000">
                      <a:schemeClr val="accent2"/>
                    </a:gs>
                    <a:gs pos="82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  <a:latin typeface="阿里妈妈方圆体 VF SemiBold"/>
                <a:ea typeface="阿里妈妈方圆体 VF SemiBold"/>
                <a:cs typeface="阿里妈妈方圆体 VF SemiBold"/>
              </a:defRPr>
            </a:lvl1pPr>
          </a:lstStyle>
          <a:p>
            <a:pPr lvl="0" algn="ctr">
              <a:buNone/>
            </a:pPr>
            <a:r>
              <a:rPr sz="9600">
                <a:solidFill>
                  <a:schemeClr val="bg1"/>
                </a:solidFill>
                <a:latin typeface="演示流云楷"/>
                <a:ea typeface="演示流云楷"/>
                <a:cs typeface="演示流云楷"/>
              </a:rPr>
              <a:t>云路协同·城市大脑</a:t>
            </a:r>
            <a:endParaRPr sz="9600" b="0" i="0" u="none" kern="1200" cap="none" spc="0" baseline="0">
              <a:ln>
                <a:noFill/>
              </a:ln>
              <a:solidFill>
                <a:schemeClr val="bg1"/>
              </a:solidFill>
              <a:latin typeface="演示流云楷"/>
              <a:ea typeface="演示流云楷"/>
              <a:cs typeface="演示流云楷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4501938" y="4324021"/>
            <a:ext cx="3188124" cy="0"/>
          </a:xfrm>
          <a:prstGeom prst="line">
            <a:avLst/>
          </a:prstGeom>
          <a:ln w="3429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5793901" y="4324021"/>
            <a:ext cx="604198" cy="0"/>
          </a:xfrm>
          <a:prstGeom prst="line">
            <a:avLst/>
          </a:prstGeom>
          <a:ln w="5143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文本框 12"/>
          <p:cNvSpPr>
            <a:spLocks noGrp="1"/>
          </p:cNvSpPr>
          <p:nvPr/>
        </p:nvSpPr>
        <p:spPr>
          <a:xfrm>
            <a:off x="4327727" y="5583604"/>
            <a:ext cx="11079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HarmonyOS Sans SC Black"/>
                <a:ea typeface="HarmonyOS Sans SC Black"/>
                <a:cs typeface="HarmonyOS Sans SC Black"/>
              </a:rPr>
              <a:t>答辩人</a:t>
            </a:r>
            <a:r>
              <a:rPr sz="18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HarmonyOS Sans SC Black"/>
                <a:ea typeface="HarmonyOS Sans SC Black"/>
                <a:cs typeface="HarmonyOS Sans SC Black"/>
              </a:rPr>
              <a:t>：</a:t>
            </a:r>
            <a:endParaRPr sz="1800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latin typeface="HarmonyOS Sans SC Black"/>
              <a:ea typeface="HarmonyOS Sans SC Black"/>
              <a:cs typeface="HarmonyOS Sans SC Black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HarmonyOS Sans SC Black"/>
                <a:ea typeface="HarmonyOS Sans SC Black"/>
                <a:cs typeface="HarmonyOS Sans SC Black"/>
              </a:rPr>
              <a:t>日期：</a:t>
            </a:r>
            <a:endParaRPr sz="1800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527667" y="3768770"/>
            <a:ext cx="11136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8000" b="1">
                <a:gradFill>
                  <a:gsLst>
                    <a:gs pos="11000">
                      <a:schemeClr val="accent2"/>
                    </a:gs>
                    <a:gs pos="82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  <a:latin typeface="阿里妈妈方圆体 VF SemiBold"/>
                <a:ea typeface="阿里妈妈方圆体 VF SemiBold"/>
                <a:cs typeface="阿里妈妈方圆体 VF SemiBold"/>
              </a:defRPr>
            </a:lvl1pPr>
          </a:lstStyle>
          <a:p>
            <a:pPr algn="ctr">
              <a:buNone/>
            </a:pPr>
            <a:r>
              <a:rPr sz="2000" b="0">
                <a:solidFill>
                  <a:schemeClr val="bg1">
                    <a:alpha val="70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面向雄安新区“城市大脑”的车路云一体化协同管控算法与仿真平台研究</a:t>
            </a:r>
            <a:endParaRPr sz="2000" b="0">
              <a:solidFill>
                <a:schemeClr val="bg1">
                  <a:alpha val="70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2926080" cy="6858000"/>
          </a:xfrm>
          <a:prstGeom prst="rect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16000">
                <a:schemeClr val="accent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2865120" cy="6858000"/>
          </a:xfrm>
          <a:prstGeom prst="rect">
            <a:avLst/>
          </a:prstGeom>
          <a:gradFill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346903" y="2567151"/>
            <a:ext cx="27911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目录</a:t>
            </a:r>
            <a:endParaRPr sz="80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32437" y="3715307"/>
            <a:ext cx="2432684" cy="575542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r>
              <a:rPr sz="3200">
                <a:solidFill>
                  <a:schemeClr val="bg1">
                    <a:alpha val="20000"/>
                  </a:schemeClr>
                </a:solidFill>
                <a:latin typeface="+mj-ea"/>
                <a:ea typeface="+mj-ea"/>
                <a:cs typeface="+mj-ea"/>
              </a:rPr>
              <a:t>CONTENT</a:t>
            </a:r>
            <a:endParaRPr sz="3200">
              <a:solidFill>
                <a:schemeClr val="bg1">
                  <a:alpha val="2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48" name="椭圆 1047"/>
          <p:cNvSpPr>
            <a:spLocks noGrp="1"/>
          </p:cNvSpPr>
          <p:nvPr/>
        </p:nvSpPr>
        <p:spPr>
          <a:xfrm flipV="1">
            <a:off x="515938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9" name="椭圆 1048"/>
          <p:cNvSpPr>
            <a:spLocks noGrp="1"/>
          </p:cNvSpPr>
          <p:nvPr/>
        </p:nvSpPr>
        <p:spPr>
          <a:xfrm flipV="1">
            <a:off x="622089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50" name="椭圆 1049"/>
          <p:cNvSpPr>
            <a:spLocks noGrp="1"/>
          </p:cNvSpPr>
          <p:nvPr/>
        </p:nvSpPr>
        <p:spPr>
          <a:xfrm flipV="1">
            <a:off x="728240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51" name="椭圆 1050"/>
          <p:cNvSpPr>
            <a:spLocks noGrp="1"/>
          </p:cNvSpPr>
          <p:nvPr/>
        </p:nvSpPr>
        <p:spPr>
          <a:xfrm flipV="1">
            <a:off x="834391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52" name="椭圆 1051"/>
          <p:cNvSpPr>
            <a:spLocks noGrp="1"/>
          </p:cNvSpPr>
          <p:nvPr/>
        </p:nvSpPr>
        <p:spPr>
          <a:xfrm flipV="1">
            <a:off x="940542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53" name="椭圆 1052"/>
          <p:cNvSpPr>
            <a:spLocks noGrp="1"/>
          </p:cNvSpPr>
          <p:nvPr/>
        </p:nvSpPr>
        <p:spPr>
          <a:xfrm flipV="1">
            <a:off x="1046693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54" name="椭圆 1053"/>
          <p:cNvSpPr>
            <a:spLocks noGrp="1"/>
          </p:cNvSpPr>
          <p:nvPr/>
        </p:nvSpPr>
        <p:spPr>
          <a:xfrm flipV="1">
            <a:off x="1152843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1" name="椭圆 1040"/>
          <p:cNvSpPr>
            <a:spLocks noGrp="1"/>
          </p:cNvSpPr>
          <p:nvPr/>
        </p:nvSpPr>
        <p:spPr>
          <a:xfrm flipV="1">
            <a:off x="515938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2" name="椭圆 1041"/>
          <p:cNvSpPr>
            <a:spLocks noGrp="1"/>
          </p:cNvSpPr>
          <p:nvPr/>
        </p:nvSpPr>
        <p:spPr>
          <a:xfrm flipV="1">
            <a:off x="622089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3" name="椭圆 1042"/>
          <p:cNvSpPr>
            <a:spLocks noGrp="1"/>
          </p:cNvSpPr>
          <p:nvPr/>
        </p:nvSpPr>
        <p:spPr>
          <a:xfrm flipV="1">
            <a:off x="728240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4" name="椭圆 1043"/>
          <p:cNvSpPr>
            <a:spLocks noGrp="1"/>
          </p:cNvSpPr>
          <p:nvPr/>
        </p:nvSpPr>
        <p:spPr>
          <a:xfrm flipV="1">
            <a:off x="834391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5" name="椭圆 1044"/>
          <p:cNvSpPr>
            <a:spLocks noGrp="1"/>
          </p:cNvSpPr>
          <p:nvPr/>
        </p:nvSpPr>
        <p:spPr>
          <a:xfrm flipV="1">
            <a:off x="940542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6" name="椭圆 1045"/>
          <p:cNvSpPr>
            <a:spLocks noGrp="1"/>
          </p:cNvSpPr>
          <p:nvPr/>
        </p:nvSpPr>
        <p:spPr>
          <a:xfrm flipV="1">
            <a:off x="1046693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7" name="椭圆 1046"/>
          <p:cNvSpPr>
            <a:spLocks noGrp="1"/>
          </p:cNvSpPr>
          <p:nvPr/>
        </p:nvSpPr>
        <p:spPr>
          <a:xfrm flipV="1">
            <a:off x="1152843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4" name="椭圆 1033"/>
          <p:cNvSpPr>
            <a:spLocks noGrp="1"/>
          </p:cNvSpPr>
          <p:nvPr/>
        </p:nvSpPr>
        <p:spPr>
          <a:xfrm flipV="1">
            <a:off x="515938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5" name="椭圆 1034"/>
          <p:cNvSpPr>
            <a:spLocks noGrp="1"/>
          </p:cNvSpPr>
          <p:nvPr/>
        </p:nvSpPr>
        <p:spPr>
          <a:xfrm flipV="1">
            <a:off x="622089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6" name="椭圆 1035"/>
          <p:cNvSpPr>
            <a:spLocks noGrp="1"/>
          </p:cNvSpPr>
          <p:nvPr/>
        </p:nvSpPr>
        <p:spPr>
          <a:xfrm flipV="1">
            <a:off x="728240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7" name="椭圆 1036"/>
          <p:cNvSpPr>
            <a:spLocks noGrp="1"/>
          </p:cNvSpPr>
          <p:nvPr/>
        </p:nvSpPr>
        <p:spPr>
          <a:xfrm flipV="1">
            <a:off x="834391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8" name="椭圆 1037"/>
          <p:cNvSpPr>
            <a:spLocks noGrp="1"/>
          </p:cNvSpPr>
          <p:nvPr/>
        </p:nvSpPr>
        <p:spPr>
          <a:xfrm flipV="1">
            <a:off x="940542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9" name="椭圆 1038"/>
          <p:cNvSpPr>
            <a:spLocks noGrp="1"/>
          </p:cNvSpPr>
          <p:nvPr/>
        </p:nvSpPr>
        <p:spPr>
          <a:xfrm flipV="1">
            <a:off x="1046693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0" name="椭圆 1039"/>
          <p:cNvSpPr>
            <a:spLocks noGrp="1"/>
          </p:cNvSpPr>
          <p:nvPr/>
        </p:nvSpPr>
        <p:spPr>
          <a:xfrm flipV="1">
            <a:off x="1152843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3" name="椭圆 62"/>
          <p:cNvSpPr>
            <a:spLocks noGrp="1"/>
          </p:cNvSpPr>
          <p:nvPr/>
        </p:nvSpPr>
        <p:spPr>
          <a:xfrm flipV="1">
            <a:off x="1294762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24" name="椭圆 1023"/>
          <p:cNvSpPr>
            <a:spLocks noGrp="1"/>
          </p:cNvSpPr>
          <p:nvPr/>
        </p:nvSpPr>
        <p:spPr>
          <a:xfrm flipV="1">
            <a:off x="1400913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25" name="椭圆 1024"/>
          <p:cNvSpPr>
            <a:spLocks noGrp="1"/>
          </p:cNvSpPr>
          <p:nvPr/>
        </p:nvSpPr>
        <p:spPr>
          <a:xfrm flipV="1">
            <a:off x="1507064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27" name="椭圆 1026"/>
          <p:cNvSpPr>
            <a:spLocks noGrp="1"/>
          </p:cNvSpPr>
          <p:nvPr/>
        </p:nvSpPr>
        <p:spPr>
          <a:xfrm flipV="1">
            <a:off x="1613215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28" name="椭圆 1027"/>
          <p:cNvSpPr>
            <a:spLocks noGrp="1"/>
          </p:cNvSpPr>
          <p:nvPr/>
        </p:nvSpPr>
        <p:spPr>
          <a:xfrm flipV="1">
            <a:off x="1719366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29" name="椭圆 1028"/>
          <p:cNvSpPr>
            <a:spLocks noGrp="1"/>
          </p:cNvSpPr>
          <p:nvPr/>
        </p:nvSpPr>
        <p:spPr>
          <a:xfrm flipV="1">
            <a:off x="1825517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0" name="椭圆 1029"/>
          <p:cNvSpPr>
            <a:spLocks noGrp="1"/>
          </p:cNvSpPr>
          <p:nvPr/>
        </p:nvSpPr>
        <p:spPr>
          <a:xfrm flipV="1">
            <a:off x="1931667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 flipV="1">
            <a:off x="1294762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 flipV="1">
            <a:off x="1400913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8" name="椭圆 57"/>
          <p:cNvSpPr>
            <a:spLocks noGrp="1"/>
          </p:cNvSpPr>
          <p:nvPr/>
        </p:nvSpPr>
        <p:spPr>
          <a:xfrm flipV="1">
            <a:off x="1507064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 flipV="1">
            <a:off x="1613215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0" name="椭圆 59"/>
          <p:cNvSpPr>
            <a:spLocks noGrp="1"/>
          </p:cNvSpPr>
          <p:nvPr/>
        </p:nvSpPr>
        <p:spPr>
          <a:xfrm flipV="1">
            <a:off x="1719366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1" name="椭圆 60"/>
          <p:cNvSpPr>
            <a:spLocks noGrp="1"/>
          </p:cNvSpPr>
          <p:nvPr/>
        </p:nvSpPr>
        <p:spPr>
          <a:xfrm flipV="1">
            <a:off x="1825517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2" name="椭圆 61"/>
          <p:cNvSpPr>
            <a:spLocks noGrp="1"/>
          </p:cNvSpPr>
          <p:nvPr/>
        </p:nvSpPr>
        <p:spPr>
          <a:xfrm flipV="1">
            <a:off x="1931667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 flipV="1">
            <a:off x="1294762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 flipV="1">
            <a:off x="1400913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 flipV="1">
            <a:off x="1507064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2" name="椭圆 51"/>
          <p:cNvSpPr>
            <a:spLocks noGrp="1"/>
          </p:cNvSpPr>
          <p:nvPr/>
        </p:nvSpPr>
        <p:spPr>
          <a:xfrm flipV="1">
            <a:off x="1613215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 flipV="1">
            <a:off x="1719366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4" name="椭圆 53"/>
          <p:cNvSpPr>
            <a:spLocks noGrp="1"/>
          </p:cNvSpPr>
          <p:nvPr/>
        </p:nvSpPr>
        <p:spPr>
          <a:xfrm flipV="1">
            <a:off x="1825517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5" name="椭圆 54"/>
          <p:cNvSpPr>
            <a:spLocks noGrp="1"/>
          </p:cNvSpPr>
          <p:nvPr/>
        </p:nvSpPr>
        <p:spPr>
          <a:xfrm flipV="1">
            <a:off x="1931667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765666" y="1053787"/>
            <a:ext cx="7295053" cy="100839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7180" dist="148590" dir="5400000" sx="98000" sy="98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 flipH="1" flipV="1">
            <a:off x="11019571" y="1049481"/>
            <a:ext cx="41147" cy="1008391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42000">
                <a:schemeClr val="accent1">
                  <a:lumMod val="90000"/>
                  <a:lumOff val="10000"/>
                </a:schemeClr>
              </a:gs>
              <a:gs pos="11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3973312" y="1147460"/>
            <a:ext cx="821047" cy="821047"/>
          </a:xfrm>
          <a:prstGeom prst="ellipse">
            <a:avLst/>
          </a:prstGeom>
          <a:gradFill>
            <a:gsLst>
              <a:gs pos="18000">
                <a:schemeClr val="accent1">
                  <a:lumMod val="85000"/>
                  <a:lumOff val="15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5091877" y="1298989"/>
            <a:ext cx="5623748" cy="51798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r>
              <a:rPr sz="2880">
                <a:solidFill>
                  <a:schemeClr val="tx2">
                    <a:lumMod val="75000"/>
                  </a:schemeClr>
                </a:solidFill>
              </a:rPr>
              <a:t>项目背景与意义</a:t>
            </a:r>
            <a:endParaRPr sz="288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3774100" y="1271290"/>
            <a:ext cx="1219468" cy="58169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pPr algn="ctr">
              <a:buNone/>
            </a:pPr>
            <a:r>
              <a:rPr sz="3240">
                <a:solidFill>
                  <a:schemeClr val="bg1"/>
                </a:solidFill>
                <a:latin typeface="+mj-ea"/>
                <a:ea typeface="+mj-ea"/>
                <a:cs typeface="+mj-ea"/>
              </a:rPr>
              <a:t>01</a:t>
            </a:r>
            <a:endParaRPr sz="324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3765666" y="2302567"/>
            <a:ext cx="7295053" cy="100839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7180" dist="148590" dir="5400000" sx="98000" sy="98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 flipH="1" flipV="1">
            <a:off x="11019571" y="2298260"/>
            <a:ext cx="41147" cy="1008391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42000">
                <a:schemeClr val="accent1">
                  <a:lumMod val="90000"/>
                  <a:lumOff val="10000"/>
                </a:schemeClr>
              </a:gs>
              <a:gs pos="11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26" name="椭圆 1025"/>
          <p:cNvSpPr>
            <a:spLocks noGrp="1"/>
          </p:cNvSpPr>
          <p:nvPr/>
        </p:nvSpPr>
        <p:spPr>
          <a:xfrm>
            <a:off x="3973312" y="2396240"/>
            <a:ext cx="821047" cy="821047"/>
          </a:xfrm>
          <a:prstGeom prst="ellipse">
            <a:avLst/>
          </a:prstGeom>
          <a:gradFill>
            <a:gsLst>
              <a:gs pos="18000">
                <a:schemeClr val="accent1">
                  <a:lumMod val="85000"/>
                  <a:lumOff val="15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57" name="文本框 1056"/>
          <p:cNvSpPr>
            <a:spLocks noGrp="1"/>
          </p:cNvSpPr>
          <p:nvPr/>
        </p:nvSpPr>
        <p:spPr>
          <a:xfrm>
            <a:off x="5091877" y="2547768"/>
            <a:ext cx="5088108" cy="51798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r>
              <a:rPr sz="2880">
                <a:solidFill>
                  <a:schemeClr val="tx2">
                    <a:lumMod val="75000"/>
                  </a:schemeClr>
                </a:solidFill>
              </a:rPr>
              <a:t>研究特色与思路</a:t>
            </a:r>
            <a:endParaRPr sz="2880">
              <a:solidFill>
                <a:schemeClr val="tx2">
                  <a:lumMod val="75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056" name="文本框 1055"/>
          <p:cNvSpPr>
            <a:spLocks noGrp="1"/>
          </p:cNvSpPr>
          <p:nvPr/>
        </p:nvSpPr>
        <p:spPr>
          <a:xfrm>
            <a:off x="3774100" y="2520069"/>
            <a:ext cx="1219468" cy="58169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pPr algn="ctr">
              <a:buNone/>
            </a:pPr>
            <a:r>
              <a:rPr sz="3240">
                <a:solidFill>
                  <a:schemeClr val="bg1"/>
                </a:solidFill>
                <a:latin typeface="+mj-ea"/>
                <a:ea typeface="+mj-ea"/>
                <a:cs typeface="+mj-ea"/>
              </a:rPr>
              <a:t>02</a:t>
            </a:r>
            <a:endParaRPr sz="324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60" name="矩形 1059"/>
          <p:cNvSpPr>
            <a:spLocks noGrp="1"/>
          </p:cNvSpPr>
          <p:nvPr/>
        </p:nvSpPr>
        <p:spPr>
          <a:xfrm>
            <a:off x="3765666" y="3551347"/>
            <a:ext cx="7295053" cy="100839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7180" dist="148590" dir="5400000" sx="98000" sy="98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1" name="矩形 1060"/>
          <p:cNvSpPr>
            <a:spLocks noGrp="1"/>
          </p:cNvSpPr>
          <p:nvPr/>
        </p:nvSpPr>
        <p:spPr>
          <a:xfrm flipH="1" flipV="1">
            <a:off x="11019571" y="3547040"/>
            <a:ext cx="41147" cy="1008391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42000">
                <a:schemeClr val="accent1">
                  <a:lumMod val="90000"/>
                  <a:lumOff val="10000"/>
                </a:schemeClr>
              </a:gs>
              <a:gs pos="11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2" name="椭圆 1061"/>
          <p:cNvSpPr>
            <a:spLocks noGrp="1"/>
          </p:cNvSpPr>
          <p:nvPr/>
        </p:nvSpPr>
        <p:spPr>
          <a:xfrm>
            <a:off x="3973312" y="3645019"/>
            <a:ext cx="821047" cy="821047"/>
          </a:xfrm>
          <a:prstGeom prst="ellipse">
            <a:avLst/>
          </a:prstGeom>
          <a:gradFill>
            <a:gsLst>
              <a:gs pos="18000">
                <a:schemeClr val="accent1">
                  <a:lumMod val="85000"/>
                  <a:lumOff val="15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5" name="文本框 1064"/>
          <p:cNvSpPr>
            <a:spLocks noGrp="1"/>
          </p:cNvSpPr>
          <p:nvPr/>
        </p:nvSpPr>
        <p:spPr>
          <a:xfrm>
            <a:off x="5091877" y="3796548"/>
            <a:ext cx="3374904" cy="51798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r>
              <a:rPr sz="2880">
                <a:solidFill>
                  <a:schemeClr val="tx2">
                    <a:lumMod val="75000"/>
                  </a:schemeClr>
                </a:solidFill>
              </a:rPr>
              <a:t>实验设计与结果</a:t>
            </a:r>
            <a:endParaRPr sz="288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64" name="文本框 1063"/>
          <p:cNvSpPr>
            <a:spLocks noGrp="1"/>
          </p:cNvSpPr>
          <p:nvPr/>
        </p:nvSpPr>
        <p:spPr>
          <a:xfrm>
            <a:off x="3774100" y="3768848"/>
            <a:ext cx="1219468" cy="58169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pPr algn="ctr">
              <a:buNone/>
            </a:pPr>
            <a:r>
              <a:rPr sz="3240">
                <a:solidFill>
                  <a:schemeClr val="bg1"/>
                </a:solidFill>
                <a:latin typeface="+mj-ea"/>
                <a:ea typeface="+mj-ea"/>
                <a:cs typeface="+mj-ea"/>
              </a:rPr>
              <a:t>03</a:t>
            </a:r>
            <a:endParaRPr sz="324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68" name="矩形 1067"/>
          <p:cNvSpPr>
            <a:spLocks noGrp="1"/>
          </p:cNvSpPr>
          <p:nvPr/>
        </p:nvSpPr>
        <p:spPr>
          <a:xfrm>
            <a:off x="3765666" y="4800127"/>
            <a:ext cx="7295053" cy="100839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7180" dist="148590" dir="5400000" sx="98000" sy="98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9" name="矩形 1068"/>
          <p:cNvSpPr>
            <a:spLocks noGrp="1"/>
          </p:cNvSpPr>
          <p:nvPr/>
        </p:nvSpPr>
        <p:spPr>
          <a:xfrm flipH="1" flipV="1">
            <a:off x="11019571" y="4795820"/>
            <a:ext cx="41147" cy="1008391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42000">
                <a:schemeClr val="accent1">
                  <a:lumMod val="90000"/>
                  <a:lumOff val="10000"/>
                </a:schemeClr>
              </a:gs>
              <a:gs pos="11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70" name="椭圆 1069"/>
          <p:cNvSpPr>
            <a:spLocks noGrp="1"/>
          </p:cNvSpPr>
          <p:nvPr/>
        </p:nvSpPr>
        <p:spPr>
          <a:xfrm>
            <a:off x="3973312" y="4893799"/>
            <a:ext cx="821047" cy="821047"/>
          </a:xfrm>
          <a:prstGeom prst="ellipse">
            <a:avLst/>
          </a:prstGeom>
          <a:gradFill>
            <a:gsLst>
              <a:gs pos="18000">
                <a:schemeClr val="accent1">
                  <a:lumMod val="85000"/>
                  <a:lumOff val="15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73" name="文本框 1072"/>
          <p:cNvSpPr>
            <a:spLocks noGrp="1"/>
          </p:cNvSpPr>
          <p:nvPr/>
        </p:nvSpPr>
        <p:spPr>
          <a:xfrm>
            <a:off x="5091877" y="5045328"/>
            <a:ext cx="3374904" cy="51798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r>
              <a:rPr sz="2880">
                <a:solidFill>
                  <a:schemeClr val="tx2">
                    <a:lumMod val="75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应用价值与展望</a:t>
            </a:r>
            <a:endParaRPr sz="2880">
              <a:solidFill>
                <a:schemeClr val="tx2">
                  <a:lumMod val="75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072" name="文本框 1071"/>
          <p:cNvSpPr>
            <a:spLocks noGrp="1"/>
          </p:cNvSpPr>
          <p:nvPr/>
        </p:nvSpPr>
        <p:spPr>
          <a:xfrm>
            <a:off x="3774100" y="5017629"/>
            <a:ext cx="1219468" cy="58169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pPr algn="ctr">
              <a:buNone/>
            </a:pPr>
            <a:r>
              <a:rPr sz="3240">
                <a:solidFill>
                  <a:schemeClr val="bg1"/>
                </a:solidFill>
                <a:latin typeface="+mj-ea"/>
                <a:ea typeface="+mj-ea"/>
                <a:cs typeface="+mj-ea"/>
              </a:rPr>
              <a:t>04</a:t>
            </a:r>
            <a:endParaRPr sz="324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" name="矩形 59"/>
          <p:cNvSpPr>
            <a:spLocks noGrp="1"/>
          </p:cNvSpPr>
          <p:nvPr/>
        </p:nvSpPr>
        <p:spPr>
          <a:xfrm>
            <a:off x="1934948" y="1571624"/>
            <a:ext cx="10257052" cy="3581399"/>
          </a:xfrm>
          <a:prstGeom prst="rect">
            <a:avLst/>
          </a:prstGeom>
          <a:gradFill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pic>
        <p:nvPicPr>
          <p:cNvPr id="77" name="图片 10"/>
          <p:cNvPicPr>
            <a:picLocks noChangeAspect="1"/>
          </p:cNvPicPr>
          <p:nvPr/>
        </p:nvPicPr>
        <p:blipFill>
          <a:blip r:embed="rId1">
            <a:alphaModFix amt="34000"/>
          </a:blip>
          <a:stretch>
            <a:fillRect/>
          </a:stretch>
        </p:blipFill>
        <p:spPr>
          <a:xfrm>
            <a:off x="2987142" y="1571624"/>
            <a:ext cx="8416143" cy="3581401"/>
          </a:xfrm>
          <a:prstGeom prst="rect">
            <a:avLst/>
          </a:prstGeom>
        </p:spPr>
      </p:pic>
      <p:sp>
        <p:nvSpPr>
          <p:cNvPr id="64" name="矩形 63"/>
          <p:cNvSpPr>
            <a:spLocks noGrp="1"/>
          </p:cNvSpPr>
          <p:nvPr/>
        </p:nvSpPr>
        <p:spPr>
          <a:xfrm>
            <a:off x="1701489" y="5153024"/>
            <a:ext cx="10665512" cy="144780"/>
          </a:xfrm>
          <a:prstGeom prst="rect">
            <a:avLst/>
          </a:prstGeom>
          <a:gradFill>
            <a:gsLst>
              <a:gs pos="59000">
                <a:schemeClr val="accent1">
                  <a:alpha val="40000"/>
                </a:schemeClr>
              </a:gs>
              <a:gs pos="97203">
                <a:schemeClr val="accent1">
                  <a:alpha val="0"/>
                </a:schemeClr>
              </a:gs>
              <a:gs pos="1000">
                <a:schemeClr val="accent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6" name="直接连接符 65"/>
          <p:cNvSpPr>
            <a:spLocks noGrp="1"/>
          </p:cNvSpPr>
          <p:nvPr/>
        </p:nvSpPr>
        <p:spPr>
          <a:xfrm>
            <a:off x="6203427" y="4394505"/>
            <a:ext cx="2788958" cy="0"/>
          </a:xfrm>
          <a:prstGeom prst="line">
            <a:avLst/>
          </a:prstGeom>
          <a:ln w="3429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7495390" y="4394505"/>
            <a:ext cx="528550" cy="0"/>
          </a:xfrm>
          <a:prstGeom prst="line">
            <a:avLst/>
          </a:prstGeom>
          <a:ln w="5143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74" name="文本框 4"/>
          <p:cNvSpPr>
            <a:spLocks noGrp="1"/>
          </p:cNvSpPr>
          <p:nvPr/>
        </p:nvSpPr>
        <p:spPr>
          <a:xfrm>
            <a:off x="2622735" y="2926287"/>
            <a:ext cx="96567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8000" b="1">
                <a:gradFill>
                  <a:gsLst>
                    <a:gs pos="11000">
                      <a:schemeClr val="accent2"/>
                    </a:gs>
                    <a:gs pos="82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  <a:latin typeface="阿里妈妈方圆体 VF SemiBold"/>
                <a:ea typeface="阿里妈妈方圆体 VF SemiBold"/>
                <a:cs typeface="阿里妈妈方圆体 VF SemiBold"/>
              </a:defRPr>
            </a:lvl1pPr>
          </a:lstStyle>
          <a:p>
            <a:pPr algn="ctr">
              <a:buNone/>
            </a:pPr>
            <a:r>
              <a:rPr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项目背景与意义</a:t>
            </a:r>
            <a:endParaRPr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6652950" y="1994804"/>
            <a:ext cx="821047" cy="821047"/>
          </a:xfrm>
          <a:prstGeom prst="ellipse">
            <a:avLst/>
          </a:prstGeom>
          <a:gradFill>
            <a:gsLst>
              <a:gs pos="18000">
                <a:schemeClr val="bg1"/>
              </a:gs>
              <a:gs pos="81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文本框 29"/>
          <p:cNvSpPr>
            <a:spLocks noGrp="1"/>
          </p:cNvSpPr>
          <p:nvPr/>
        </p:nvSpPr>
        <p:spPr>
          <a:xfrm>
            <a:off x="6453739" y="2114478"/>
            <a:ext cx="1219468" cy="58169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pPr algn="ctr">
              <a:buNone/>
            </a:pPr>
            <a:r>
              <a:rPr sz="324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01</a:t>
            </a:r>
            <a:endParaRPr sz="3240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矩形:"/>
          <p:cNvSpPr>
            <a:spLocks noGrp="1"/>
          </p:cNvSpPr>
          <p:nvPr/>
        </p:nvSpPr>
        <p:spPr>
          <a:xfrm>
            <a:off x="2364796" y="6228325"/>
            <a:ext cx="9474886" cy="529013"/>
          </a:xfrm>
          <a:prstGeom prst="snip2DiagRect">
            <a:avLst>
              <a:gd name="adj1" fmla="val 0"/>
              <a:gd name="adj2" fmla="val 26504"/>
            </a:avLst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449978" y="1116465"/>
            <a:ext cx="3475232" cy="2190509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2423821" y="1917133"/>
            <a:ext cx="3475232" cy="1272784"/>
          </a:xfrm>
          <a:prstGeom prst="rect">
            <a:avLst/>
          </a:prstGeom>
          <a:noFill/>
        </p:spPr>
        <p:txBody>
          <a:bodyPr wrap="square" lIns="171450" tIns="152400" rIns="171450" bIns="114300" anchor="t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路口间距短、高峰车流集中，相邻路口几十秒内就会互相影响</a:t>
            </a:r>
            <a:r>
              <a:rPr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一个路口的放行会在数十秒内改变上下游排队</a:t>
            </a:r>
            <a:r>
              <a:rPr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2457705" y="1204117"/>
            <a:ext cx="3522674" cy="753772"/>
          </a:xfrm>
          <a:prstGeom prst="rect">
            <a:avLst/>
          </a:prstGeom>
          <a:noFill/>
        </p:spPr>
        <p:txBody>
          <a:bodyPr wrap="square" lIns="75923" tIns="37961" rIns="75923" bIns="37961">
            <a:spAutoFit/>
          </a:bodyPr>
          <a:lstStyle/>
          <a:p>
            <a:pPr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4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窄路密网</a:t>
            </a:r>
            <a:endParaRPr sz="24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路口之间“牵一发而动全身</a:t>
            </a:r>
            <a:r>
              <a:rPr sz="2000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”</a:t>
            </a:r>
            <a:endParaRPr sz="2000">
              <a:solidFill>
                <a:schemeClr val="accent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45610" y="1090514"/>
            <a:ext cx="5804136" cy="3720167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45610" y="5014949"/>
            <a:ext cx="5804136" cy="36000"/>
          </a:xfrm>
          <a:prstGeom prst="rect">
            <a:avLst/>
          </a:prstGeom>
          <a:gradFill rotWithShape="1">
            <a:gsLst>
              <a:gs pos="55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anchor="ctr">
            <a:noAutofit/>
          </a:bodyPr>
          <a:lstStyle/>
          <a:p>
            <a:pPr algn="ctr">
              <a:buNone/>
            </a:pPr>
            <a:endParaRPr sz="1655"/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6441656" y="1884095"/>
            <a:ext cx="5146462" cy="2635337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/>
          <a:p>
            <a:pPr marL="285750" indent="-285750">
              <a:buFont typeface="Wingdings" panose="05000000000000000000"/>
              <a:buChar char="Ø"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车端 + 路侧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：实时采集车辆排队、道路占用等数据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/>
              <a:buChar char="Ø"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边缘侧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：5秒一个决策周期，毫秒级输出信号方案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/>
              <a:buChar char="Ø"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云端侧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：训练 AI 模型、做分钟级全局分析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/>
              <a:buChar char="Ø"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仿真平台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：复现实验、校验安全约束、可视化展示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>
            <a:spLocks noGrp="1"/>
          </p:cNvSpPr>
          <p:nvPr/>
        </p:nvSpPr>
        <p:spPr>
          <a:xfrm>
            <a:off x="6428653" y="1264307"/>
            <a:ext cx="5017922" cy="445995"/>
          </a:xfrm>
          <a:prstGeom prst="rect">
            <a:avLst/>
          </a:prstGeom>
          <a:noFill/>
        </p:spPr>
        <p:txBody>
          <a:bodyPr wrap="square" lIns="75923" tIns="37961" rIns="75923" bIns="37961">
            <a:spAutoFit/>
          </a:bodyPr>
          <a:lstStyle/>
          <a:p>
            <a:pPr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4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车路云协同：四层分工，形成闭环</a:t>
            </a:r>
            <a:endParaRPr sz="24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文本框 32"/>
          <p:cNvSpPr>
            <a:spLocks noGrp="1"/>
          </p:cNvSpPr>
          <p:nvPr/>
        </p:nvSpPr>
        <p:spPr>
          <a:xfrm>
            <a:off x="2773086" y="374000"/>
            <a:ext cx="8371171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>
                <a:solidFill>
                  <a:srgbClr val="17365D"/>
                </a:solidFill>
              </a:rPr>
              <a:t>1.1 </a:t>
            </a:r>
            <a:r>
              <a:rPr sz="2800">
                <a:solidFill>
                  <a:srgbClr val="17365D"/>
                </a:solidFill>
              </a:rPr>
              <a:t>研究背景：为什么需要车路云协同</a:t>
            </a:r>
            <a:endParaRPr sz="2800">
              <a:solidFill>
                <a:srgbClr val="17365D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8" name="箭头: 右 37"/>
          <p:cNvSpPr>
            <a:spLocks noGrp="1"/>
          </p:cNvSpPr>
          <p:nvPr/>
        </p:nvSpPr>
        <p:spPr>
          <a:xfrm rot="5400000">
            <a:off x="4009485" y="3462222"/>
            <a:ext cx="356135" cy="623929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423821" y="4048528"/>
            <a:ext cx="3475232" cy="2063348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3" name="文本框 42"/>
          <p:cNvSpPr>
            <a:spLocks noGrp="1"/>
          </p:cNvSpPr>
          <p:nvPr/>
        </p:nvSpPr>
        <p:spPr>
          <a:xfrm>
            <a:off x="2422290" y="4466909"/>
            <a:ext cx="3295102" cy="1721625"/>
          </a:xfrm>
          <a:prstGeom prst="rect">
            <a:avLst/>
          </a:prstGeom>
          <a:noFill/>
        </p:spPr>
        <p:txBody>
          <a:bodyPr wrap="square" lIns="171450" tIns="152400" rIns="171450" bIns="114300" anchor="t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固定配时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：车流早高峰、晚高峰、平峰差异大，一套时刻表 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不适配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全天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单点优化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：每个路口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独立不可行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必须考虑全局效率。</a:t>
            </a:r>
            <a:endParaRPr sz="16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>
            <a:spLocks noGrp="1"/>
          </p:cNvSpPr>
          <p:nvPr/>
        </p:nvSpPr>
        <p:spPr>
          <a:xfrm>
            <a:off x="2495113" y="4181402"/>
            <a:ext cx="3447858" cy="445995"/>
          </a:xfrm>
          <a:prstGeom prst="rect">
            <a:avLst/>
          </a:prstGeom>
          <a:noFill/>
        </p:spPr>
        <p:txBody>
          <a:bodyPr wrap="square" lIns="75923" tIns="37961" rIns="75923" bIns="37961">
            <a:spAutoFit/>
          </a:bodyPr>
          <a:lstStyle/>
          <a:p>
            <a:r>
              <a:rPr sz="24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传统方法难以</a:t>
            </a:r>
            <a:r>
              <a:rPr sz="24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兼顾全局</a:t>
            </a:r>
            <a:endParaRPr sz="24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pic>
        <p:nvPicPr>
          <p:cNvPr id="77" name="图片 46"/>
          <p:cNvPicPr>
            <a:picLocks noChangeAspect="1"/>
          </p:cNvPicPr>
          <p:nvPr/>
        </p:nvPicPr>
        <p:blipFill>
          <a:blip r:embed="rId1"/>
          <a:srcRect t="5526" b="5526"/>
          <a:stretch>
            <a:fillRect/>
          </a:stretch>
        </p:blipFill>
        <p:spPr>
          <a:xfrm>
            <a:off x="2338552" y="1090514"/>
            <a:ext cx="3476322" cy="1740223"/>
          </a:xfrm>
          <a:ln>
            <a:solidFill>
              <a:schemeClr val="accent1">
                <a:alpha val="52000"/>
              </a:schemeClr>
            </a:solidFill>
          </a:ln>
          <a:effectLst>
            <a:outerShdw blurRad="101600" dist="114300" dir="5400000" sx="98000" sy="98000" algn="t" rotWithShape="0">
              <a:schemeClr val="tx2">
                <a:lumMod val="75000"/>
                <a:alpha val="20000"/>
              </a:schemeClr>
            </a:outerShdw>
          </a:effectLst>
        </p:spPr>
      </p:pic>
      <p:pic>
        <p:nvPicPr>
          <p:cNvPr id="78" name="图片 53"/>
          <p:cNvPicPr>
            <a:picLocks noChangeAspect="1"/>
          </p:cNvPicPr>
          <p:nvPr/>
        </p:nvPicPr>
        <p:blipFill>
          <a:blip r:embed="rId1"/>
          <a:srcRect t="15755" b="15755"/>
          <a:stretch>
            <a:fillRect/>
          </a:stretch>
        </p:blipFill>
        <p:spPr>
          <a:xfrm>
            <a:off x="6035547" y="1090514"/>
            <a:ext cx="5804136" cy="2237277"/>
          </a:xfrm>
          <a:ln>
            <a:solidFill>
              <a:schemeClr val="accent1">
                <a:alpha val="52000"/>
              </a:schemeClr>
            </a:solidFill>
          </a:ln>
          <a:effectLst>
            <a:outerShdw blurRad="101600" dist="114300" dir="5400000" sx="98000" sy="98000" algn="t" rotWithShape="0">
              <a:schemeClr val="tx2">
                <a:lumMod val="75000"/>
                <a:alpha val="20000"/>
              </a:schemeClr>
            </a:outerShdw>
          </a:effectLst>
        </p:spPr>
      </p:pic>
      <p:sp>
        <p:nvSpPr>
          <p:cNvPr id="42" name="矩形 41"/>
          <p:cNvSpPr>
            <a:spLocks noGrp="1"/>
          </p:cNvSpPr>
          <p:nvPr/>
        </p:nvSpPr>
        <p:spPr>
          <a:xfrm>
            <a:off x="2449936" y="6111876"/>
            <a:ext cx="3475232" cy="36000"/>
          </a:xfrm>
          <a:prstGeom prst="rect">
            <a:avLst/>
          </a:prstGeom>
          <a:gradFill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anchor="ctr">
            <a:noAutofit/>
          </a:bodyPr>
          <a:lstStyle/>
          <a:p>
            <a:pPr algn="ctr">
              <a:buNone/>
            </a:pPr>
            <a:endParaRPr sz="1655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449937" y="3440167"/>
            <a:ext cx="3475232" cy="36000"/>
          </a:xfrm>
          <a:prstGeom prst="rect">
            <a:avLst/>
          </a:prstGeom>
          <a:gradFill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anchor="ctr">
            <a:noAutofit/>
          </a:bodyPr>
          <a:lstStyle/>
          <a:p>
            <a:pPr algn="ctr">
              <a:buNone/>
            </a:pPr>
            <a:endParaRPr sz="1655"/>
          </a:p>
        </p:txBody>
      </p:sp>
      <p:sp>
        <p:nvSpPr>
          <p:cNvPr id="55" name="文本框 54"/>
          <p:cNvSpPr>
            <a:spLocks noGrp="1"/>
          </p:cNvSpPr>
          <p:nvPr/>
        </p:nvSpPr>
        <p:spPr>
          <a:xfrm>
            <a:off x="2573327" y="6353238"/>
            <a:ext cx="90937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核心诉求：让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个路口在统一状态、动作与奖励规范下协同运行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从各自为战变成协同疏堵。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箭头: 右 55"/>
          <p:cNvSpPr>
            <a:spLocks noGrp="1"/>
          </p:cNvSpPr>
          <p:nvPr/>
        </p:nvSpPr>
        <p:spPr>
          <a:xfrm>
            <a:off x="5834307" y="3510839"/>
            <a:ext cx="356135" cy="575339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83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653" y="5187126"/>
            <a:ext cx="5294926" cy="980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" name="文本框 76"/>
          <p:cNvSpPr>
            <a:spLocks noGrp="1"/>
          </p:cNvSpPr>
          <p:nvPr/>
        </p:nvSpPr>
        <p:spPr>
          <a:xfrm>
            <a:off x="2773086" y="374000"/>
            <a:ext cx="8371171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1.2 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核心挑战：从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“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算法有效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”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走向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“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系统可用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”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2" name="箭头: 下 21"/>
          <p:cNvSpPr>
            <a:spLocks noGrp="1"/>
          </p:cNvSpPr>
          <p:nvPr/>
        </p:nvSpPr>
        <p:spPr>
          <a:xfrm>
            <a:off x="5175952" y="5899173"/>
            <a:ext cx="482956" cy="314644"/>
          </a:xfrm>
          <a:prstGeom prst="downArrow">
            <a:avLst>
              <a:gd name="adj1" fmla="val 50000"/>
              <a:gd name="adj2" fmla="val 51073"/>
            </a:avLst>
          </a:prstGeom>
          <a:gradFill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35000"/>
                  <a:lumOff val="65000"/>
                </a:schemeClr>
              </a:gs>
              <a:gs pos="78000">
                <a:schemeClr val="accent5">
                  <a:lumMod val="30000"/>
                  <a:lumOff val="70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箭头: 下 22"/>
          <p:cNvSpPr>
            <a:spLocks noGrp="1"/>
          </p:cNvSpPr>
          <p:nvPr/>
        </p:nvSpPr>
        <p:spPr>
          <a:xfrm>
            <a:off x="8419632" y="5883298"/>
            <a:ext cx="482956" cy="314644"/>
          </a:xfrm>
          <a:prstGeom prst="downArrow">
            <a:avLst>
              <a:gd name="adj1" fmla="val 50000"/>
              <a:gd name="adj2" fmla="val 51073"/>
            </a:avLst>
          </a:prstGeom>
          <a:gradFill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35000"/>
                  <a:lumOff val="65000"/>
                </a:schemeClr>
              </a:gs>
              <a:gs pos="78000">
                <a:schemeClr val="accent5">
                  <a:lumMod val="30000"/>
                  <a:lumOff val="70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263507" y="1144705"/>
            <a:ext cx="3078514" cy="472743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9" name="文本框 58"/>
          <p:cNvSpPr>
            <a:spLocks noGrp="1"/>
          </p:cNvSpPr>
          <p:nvPr/>
        </p:nvSpPr>
        <p:spPr>
          <a:xfrm>
            <a:off x="2282265" y="3758481"/>
            <a:ext cx="2999327" cy="2112117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路口“窄路密网”拓扑：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贴近雄安近距路口、排队易回溢的实际特征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早/平/晚高峰多时段交通流：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覆盖典型运行状态，避免单场景结论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施工占道等扰动注入：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逼近真实运行场景，检验算法鲁棒性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同一输入下结果稳定可比：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为算法优劣判断提供统一、可信的依据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472270" y="1136141"/>
            <a:ext cx="3078514" cy="472136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2" name="文本框 15"/>
          <p:cNvSpPr>
            <a:spLocks noGrp="1"/>
          </p:cNvSpPr>
          <p:nvPr/>
        </p:nvSpPr>
        <p:spPr>
          <a:xfrm>
            <a:off x="5527383" y="3686049"/>
            <a:ext cx="2889907" cy="2112117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参数共享，控制开销可控：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个路口共享一套网络参数与经验回放，避免逐路口独立训练，支撑批量实时控制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buNone/>
            </a:pP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安全执行，动作合法下发：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通过动作掩码、最小绿灯与黄灯过渡多重约束，确保相位动作合法、可审计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774013" y="1142687"/>
            <a:ext cx="3078514" cy="472743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774013" y="1144706"/>
            <a:ext cx="3078513" cy="716637"/>
          </a:xfrm>
          <a:prstGeom prst="rect">
            <a:avLst/>
          </a:prstGeom>
          <a:solidFill>
            <a:schemeClr val="tx2">
              <a:lumMod val="20000"/>
              <a:lumOff val="8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7" name="文本框 30"/>
          <p:cNvSpPr>
            <a:spLocks noGrp="1"/>
          </p:cNvSpPr>
          <p:nvPr/>
        </p:nvSpPr>
        <p:spPr>
          <a:xfrm>
            <a:off x="8967053" y="1268109"/>
            <a:ext cx="31729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评价口径与工程衔接</a:t>
            </a:r>
            <a:endParaRPr sz="20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42" name="文本框 41"/>
          <p:cNvSpPr>
            <a:spLocks noGrp="1"/>
          </p:cNvSpPr>
          <p:nvPr/>
        </p:nvSpPr>
        <p:spPr>
          <a:xfrm>
            <a:off x="2254615" y="1987040"/>
            <a:ext cx="2939415" cy="1623521"/>
          </a:xfrm>
          <a:prstGeom prst="rect">
            <a:avLst/>
          </a:prstGeom>
          <a:noFill/>
        </p:spPr>
        <p:txBody>
          <a:bodyPr wrap="square" lIns="171450" tIns="152400" rIns="171450" bIns="114300" anchor="t">
            <a:spAutoFit/>
          </a:bodyPr>
          <a:lstStyle/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评价算法的前提是实验可复现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路网拓扑、信号模板、交通需求与扰动参数均可记录、可调整、可重复。</a:t>
            </a:r>
            <a:endParaRPr sz="160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AutoShape 7"/>
          <p:cNvSpPr>
            <a:spLocks noGrp="1"/>
          </p:cNvSpPr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63" name="AutoShape 9"/>
          <p:cNvSpPr>
            <a:spLocks noGrp="1"/>
          </p:cNvSpPr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67" name="文本框 66"/>
          <p:cNvSpPr>
            <a:spLocks noGrp="1"/>
          </p:cNvSpPr>
          <p:nvPr/>
        </p:nvSpPr>
        <p:spPr>
          <a:xfrm>
            <a:off x="8902588" y="2038216"/>
            <a:ext cx="306567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训练、仿真与部署必须统一口</a:t>
            </a: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径</a:t>
            </a:r>
            <a:endParaRPr sz="2000" b="1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单一指标不足以刻画路网运行，离线效果也不等于在线可用</a:t>
            </a:r>
            <a:endParaRPr sz="160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文本框 15"/>
          <p:cNvSpPr>
            <a:spLocks noGrp="1"/>
          </p:cNvSpPr>
          <p:nvPr/>
        </p:nvSpPr>
        <p:spPr>
          <a:xfrm>
            <a:off x="8783614" y="3647537"/>
            <a:ext cx="3065668" cy="2219454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多维指标联合评估：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通行效率、排队长度、吞吐量与动作稳定性并重，避免单一指标掩盖局部运行风险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统一状态 - 动作契约：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训练、仿真与服务调用采用一致的数据定义，防止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离线有效、在线失效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部署保真验证：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模型压缩后须在真实 SUMO 状态上复核动作一致性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472270" y="1144706"/>
            <a:ext cx="3078514" cy="716637"/>
          </a:xfrm>
          <a:prstGeom prst="rect">
            <a:avLst/>
          </a:prstGeom>
          <a:solidFill>
            <a:schemeClr val="tx2">
              <a:lumMod val="20000"/>
              <a:lumOff val="8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98" name="文本框 15"/>
          <p:cNvSpPr>
            <a:spLocks noGrp="1"/>
          </p:cNvSpPr>
          <p:nvPr/>
        </p:nvSpPr>
        <p:spPr>
          <a:xfrm>
            <a:off x="5495044" y="2041833"/>
            <a:ext cx="2925838" cy="1296509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600"/>
              </a:spcAft>
              <a:buNone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区域协同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必须在 5 秒控制周期内完成实时决策，同时保证下发到每个路口的动作满足安全约束。</a:t>
            </a:r>
            <a:endParaRPr sz="160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30"/>
          <p:cNvSpPr>
            <a:spLocks noGrp="1"/>
          </p:cNvSpPr>
          <p:nvPr/>
        </p:nvSpPr>
        <p:spPr>
          <a:xfrm>
            <a:off x="5605764" y="1268109"/>
            <a:ext cx="2811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多路口协同与实时约束</a:t>
            </a:r>
            <a:endParaRPr sz="20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2263505" y="1144706"/>
            <a:ext cx="3078514" cy="716639"/>
          </a:xfrm>
          <a:prstGeom prst="rect">
            <a:avLst/>
          </a:prstGeom>
          <a:solidFill>
            <a:schemeClr val="tx2">
              <a:lumMod val="20000"/>
              <a:lumOff val="8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5" name="文本框 30"/>
          <p:cNvSpPr>
            <a:spLocks noGrp="1"/>
          </p:cNvSpPr>
          <p:nvPr/>
        </p:nvSpPr>
        <p:spPr>
          <a:xfrm>
            <a:off x="2256671" y="1274277"/>
            <a:ext cx="307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场景真实</a:t>
            </a:r>
            <a:r>
              <a:rPr sz="20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性</a:t>
            </a:r>
            <a:r>
              <a:rPr sz="20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与可复现</a:t>
            </a:r>
            <a:r>
              <a:rPr sz="20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性</a:t>
            </a:r>
            <a:endParaRPr sz="2000" b="1"/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矩形:"/>
          <p:cNvSpPr>
            <a:spLocks noGrp="1"/>
          </p:cNvSpPr>
          <p:nvPr/>
        </p:nvSpPr>
        <p:spPr>
          <a:xfrm>
            <a:off x="2364796" y="6228325"/>
            <a:ext cx="9474886" cy="529013"/>
          </a:xfrm>
          <a:prstGeom prst="snip2DiagRect">
            <a:avLst>
              <a:gd name="adj1" fmla="val 0"/>
              <a:gd name="adj2" fmla="val 26504"/>
            </a:avLst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文本框 54"/>
          <p:cNvSpPr>
            <a:spLocks noGrp="1"/>
          </p:cNvSpPr>
          <p:nvPr/>
        </p:nvSpPr>
        <p:spPr>
          <a:xfrm>
            <a:off x="2573327" y="6369556"/>
            <a:ext cx="9093740" cy="3059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4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本项目的核心目标，不是追求单次实验的更高得分，而是构建稳定、可审计、可复现的车路云协同管控闭环</a:t>
            </a:r>
            <a:r>
              <a:rPr sz="14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直接连接符 5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0" name="文本框 2"/>
          <p:cNvSpPr>
            <a:spLocks noGrp="1"/>
          </p:cNvSpPr>
          <p:nvPr/>
        </p:nvSpPr>
        <p:spPr>
          <a:xfrm>
            <a:off x="2773086" y="374000"/>
            <a:ext cx="9164913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1.3 研究现状：算法演进与工程落地并行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354554" y="1132048"/>
            <a:ext cx="4642930" cy="48862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1450" tIns="152400" rIns="171450" bIns="114300" anchor="t">
            <a:noAutofit/>
          </a:bodyPr>
          <a:lstStyle/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SCATS / SCOOT</a:t>
            </a: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依据检测器数据滚动调整周期、绿信比与相位差</a:t>
            </a: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354554" y="1132047"/>
            <a:ext cx="4642929" cy="713176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chemeClr val="tx1"/>
                </a:solidFill>
                <a:latin typeface="HarmonyOS Sans SC Black"/>
                <a:ea typeface="HarmonyOS Sans SC Black"/>
                <a:cs typeface="HarmonyOS Sans SC Black"/>
              </a:rPr>
              <a:t>从自适应配时到多路口强化学习</a:t>
            </a:r>
            <a:endParaRPr>
              <a:solidFill>
                <a:schemeClr val="tx1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4" name="文本框 11"/>
          <p:cNvSpPr>
            <a:spLocks noGrp="1"/>
          </p:cNvSpPr>
          <p:nvPr/>
        </p:nvSpPr>
        <p:spPr>
          <a:xfrm>
            <a:off x="2397489" y="1297326"/>
            <a:ext cx="4642929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b="1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320117" y="1132047"/>
            <a:ext cx="4527150" cy="48862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1450" tIns="152400" rIns="171450" bIns="114300" anchor="t">
            <a:noAutofit/>
          </a:bodyPr>
          <a:lstStyle/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车端</a:t>
            </a:r>
            <a:r>
              <a: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 / </a:t>
            </a:r>
            <a:r>
              <a: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路侧</a:t>
            </a: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快速感知车辆与道路状态</a:t>
            </a: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320117" y="1132048"/>
            <a:ext cx="4527150" cy="713177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chemeClr val="tx1"/>
                </a:solidFill>
                <a:latin typeface="HarmonyOS Sans SC Black"/>
                <a:ea typeface="HarmonyOS Sans SC Black"/>
                <a:cs typeface="HarmonyOS Sans SC Black"/>
              </a:rPr>
              <a:t>车路云协同与轻量化部署</a:t>
            </a:r>
            <a:endParaRPr>
              <a:solidFill>
                <a:schemeClr val="tx1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5" name="矩形: 剪去对角 34"/>
          <p:cNvSpPr>
            <a:spLocks noGrp="1"/>
          </p:cNvSpPr>
          <p:nvPr/>
        </p:nvSpPr>
        <p:spPr>
          <a:xfrm>
            <a:off x="2305693" y="6208762"/>
            <a:ext cx="9632306" cy="532571"/>
          </a:xfrm>
          <a:prstGeom prst="snip2Diag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共识</a:t>
            </a:r>
            <a:r>
              <a:rPr sz="16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：</a:t>
            </a:r>
            <a:r>
              <a:rPr sz="16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区域协同、安全约束、可复现实验与部署保真缺一不可，共同构成系统可用的前提。</a:t>
            </a:r>
            <a:endParaRPr sz="1600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9" name="梯形 38"/>
          <p:cNvSpPr>
            <a:spLocks noGrp="1"/>
          </p:cNvSpPr>
          <p:nvPr/>
        </p:nvSpPr>
        <p:spPr>
          <a:xfrm>
            <a:off x="2380512" y="6116991"/>
            <a:ext cx="9467914" cy="187782"/>
          </a:xfrm>
          <a:prstGeom prst="trapezoid">
            <a:avLst>
              <a:gd name="adj" fmla="val 203099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6000">
                <a:schemeClr val="accent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1" name="箭头: 下 40"/>
          <p:cNvSpPr>
            <a:spLocks noGrp="1"/>
          </p:cNvSpPr>
          <p:nvPr/>
        </p:nvSpPr>
        <p:spPr>
          <a:xfrm rot="16200000">
            <a:off x="6506878" y="2207535"/>
            <a:ext cx="778010" cy="1373980"/>
          </a:xfrm>
          <a:prstGeom prst="downArrow">
            <a:avLst>
              <a:gd name="adj1" fmla="val 50000"/>
              <a:gd name="adj2" fmla="val 51073"/>
            </a:avLst>
          </a:prstGeom>
          <a:gradFill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rgbClr val="A2B7D5"/>
              </a:gs>
              <a:gs pos="78000">
                <a:srgbClr val="A2B7D5"/>
              </a:gs>
              <a:gs pos="100000">
                <a:srgbClr val="A2B7D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文本框 8"/>
          <p:cNvSpPr>
            <a:spLocks noGrp="1"/>
          </p:cNvSpPr>
          <p:nvPr/>
        </p:nvSpPr>
        <p:spPr>
          <a:xfrm>
            <a:off x="6251903" y="2705733"/>
            <a:ext cx="1287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分层协同</a:t>
            </a:r>
            <a:endParaRPr sz="1200" b="1">
              <a:ln w="3810">
                <a:solidFill>
                  <a:schemeClr val="bg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文本框 45"/>
          <p:cNvSpPr>
            <a:spLocks noGrp="1"/>
          </p:cNvSpPr>
          <p:nvPr/>
        </p:nvSpPr>
        <p:spPr>
          <a:xfrm>
            <a:off x="2463697" y="2015150"/>
            <a:ext cx="4510511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信号控制方法沿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“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规则配时 → 单路口学习 → 多路口协同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”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逐步演进。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自适应配时（SCATS / SCOOT）：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lvl="0"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基于检测器数据滚动调整周期、绿信比与相位差，构成工程应用基础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DQN / Double-DQN：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lvl="0"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将信号控制建模为 "状态 — 动作 — 反馈" 循环，为相位选择提供可训练框架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CoLight / FRAP / PressLight：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lvl="0"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通过刻画路口关联、相位竞争与排队压力，走向多路口协同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49" name="文本框 48"/>
          <p:cNvSpPr>
            <a:spLocks noGrp="1"/>
          </p:cNvSpPr>
          <p:nvPr/>
        </p:nvSpPr>
        <p:spPr>
          <a:xfrm>
            <a:off x="7389095" y="2015150"/>
            <a:ext cx="43891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车路云分层架构按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“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响应时延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”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分工：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局部快响应、全局慢决策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51" name="文本框 50"/>
          <p:cNvSpPr>
            <a:spLocks noGrp="1"/>
          </p:cNvSpPr>
          <p:nvPr/>
        </p:nvSpPr>
        <p:spPr>
          <a:xfrm>
            <a:off x="7389095" y="3143249"/>
            <a:ext cx="426950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车端 + 路侧：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实时感知，承担局部快速响应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边缘侧：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低时延推理与安全执行，满足秒级控制周期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云端 / 仿真：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lvl="0"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模型训练、全局分析与可复现验证，支撑慢周期决策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ONNX + 容器化：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lvl="0"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统一模型格式与运行环境，打通算法原型到跨平台部署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" name="图形 5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2162" y="2647181"/>
            <a:ext cx="1065956" cy="10659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" name="矩形:"/>
          <p:cNvSpPr>
            <a:spLocks noGrp="1"/>
          </p:cNvSpPr>
          <p:nvPr/>
        </p:nvSpPr>
        <p:spPr>
          <a:xfrm>
            <a:off x="8637128" y="3146906"/>
            <a:ext cx="2765973" cy="1690908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" name="文本框 76"/>
          <p:cNvSpPr>
            <a:spLocks noGrp="1"/>
          </p:cNvSpPr>
          <p:nvPr/>
        </p:nvSpPr>
        <p:spPr>
          <a:xfrm>
            <a:off x="2773045" y="374015"/>
            <a:ext cx="9288145" cy="504190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1.4 项目目标：形成可验证的技术原型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箭头: 五边形 10"/>
          <p:cNvSpPr>
            <a:spLocks noGrp="1"/>
          </p:cNvSpPr>
          <p:nvPr/>
        </p:nvSpPr>
        <p:spPr>
          <a:xfrm>
            <a:off x="2422291" y="2557969"/>
            <a:ext cx="3102052" cy="598767"/>
          </a:xfrm>
          <a:prstGeom prst="homePlate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箭头: V 形 12"/>
          <p:cNvSpPr>
            <a:spLocks noGrp="1"/>
          </p:cNvSpPr>
          <p:nvPr/>
        </p:nvSpPr>
        <p:spPr>
          <a:xfrm>
            <a:off x="5524343" y="2557969"/>
            <a:ext cx="3102052" cy="598767"/>
          </a:xfrm>
          <a:prstGeom prst="chevron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1" name="矩形:"/>
          <p:cNvSpPr>
            <a:spLocks noGrp="1"/>
          </p:cNvSpPr>
          <p:nvPr/>
        </p:nvSpPr>
        <p:spPr>
          <a:xfrm>
            <a:off x="2422290" y="3156737"/>
            <a:ext cx="2765973" cy="1690908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3" name="矩形:"/>
          <p:cNvSpPr>
            <a:spLocks noGrp="1"/>
          </p:cNvSpPr>
          <p:nvPr/>
        </p:nvSpPr>
        <p:spPr>
          <a:xfrm>
            <a:off x="2428887" y="5194607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6" name="矩形:"/>
          <p:cNvSpPr>
            <a:spLocks noGrp="1"/>
          </p:cNvSpPr>
          <p:nvPr/>
        </p:nvSpPr>
        <p:spPr>
          <a:xfrm>
            <a:off x="5524342" y="3156737"/>
            <a:ext cx="2765973" cy="1690908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3" name="矩形:"/>
          <p:cNvSpPr>
            <a:spLocks noGrp="1"/>
          </p:cNvSpPr>
          <p:nvPr/>
        </p:nvSpPr>
        <p:spPr>
          <a:xfrm>
            <a:off x="2395632" y="1257909"/>
            <a:ext cx="9306156" cy="822843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7" name="矩形:"/>
          <p:cNvSpPr>
            <a:spLocks noGrp="1"/>
          </p:cNvSpPr>
          <p:nvPr/>
        </p:nvSpPr>
        <p:spPr>
          <a:xfrm>
            <a:off x="2395632" y="1257909"/>
            <a:ext cx="556173" cy="822843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0" name="文本框 29"/>
          <p:cNvSpPr>
            <a:spLocks noGrp="1"/>
          </p:cNvSpPr>
          <p:nvPr/>
        </p:nvSpPr>
        <p:spPr>
          <a:xfrm>
            <a:off x="3025909" y="1204149"/>
            <a:ext cx="8152659" cy="884858"/>
          </a:xfrm>
          <a:prstGeom prst="rect">
            <a:avLst/>
          </a:prstGeom>
          <a:noFill/>
        </p:spPr>
        <p:txBody>
          <a:bodyPr wrap="square" lIns="171450" tIns="152400" rIns="171450" bIns="114300" anchor="t">
            <a:spAutoFit/>
          </a:bodyPr>
          <a:lstStyle/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以 30 个受控路口为对象，</a:t>
            </a:r>
            <a:endParaRPr sz="2000" b="1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构建</a:t>
            </a: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“</a:t>
            </a: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训练 — 控制 — 评估 — 展示</a:t>
            </a: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”</a:t>
            </a: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一体化的可验证原型。</a:t>
            </a:r>
            <a:endParaRPr sz="2000" b="1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53" name="文本框 15"/>
          <p:cNvSpPr>
            <a:spLocks noGrp="1"/>
          </p:cNvSpPr>
          <p:nvPr/>
        </p:nvSpPr>
        <p:spPr>
          <a:xfrm>
            <a:off x="2561561" y="3415519"/>
            <a:ext cx="231871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状态、动作、奖励与接口规范同源，控制周期 5 秒</a:t>
            </a: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。</a:t>
            </a: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5" name="文本框 15"/>
          <p:cNvSpPr>
            <a:spLocks noGrp="1"/>
          </p:cNvSpPr>
          <p:nvPr/>
        </p:nvSpPr>
        <p:spPr>
          <a:xfrm>
            <a:off x="5698983" y="3409644"/>
            <a:ext cx="2427426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从安全相位集合中实时选动作，经合法性校验后批量下发。</a:t>
            </a: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7" name="文本框 15"/>
          <p:cNvSpPr>
            <a:spLocks noGrp="1"/>
          </p:cNvSpPr>
          <p:nvPr/>
        </p:nvSpPr>
        <p:spPr>
          <a:xfrm>
            <a:off x="8843181" y="3399813"/>
            <a:ext cx="2427426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覆盖多场景，贯通仿真、推理与可视化，验证模型保真与系统稳定性</a:t>
            </a: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。</a:t>
            </a: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1" name="矩形:"/>
          <p:cNvSpPr>
            <a:spLocks noGrp="1"/>
          </p:cNvSpPr>
          <p:nvPr/>
        </p:nvSpPr>
        <p:spPr>
          <a:xfrm>
            <a:off x="5517745" y="5174687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3" name="矩形:"/>
          <p:cNvSpPr>
            <a:spLocks noGrp="1"/>
          </p:cNvSpPr>
          <p:nvPr/>
        </p:nvSpPr>
        <p:spPr>
          <a:xfrm>
            <a:off x="8655450" y="5165670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文本框 64"/>
          <p:cNvSpPr>
            <a:spLocks noGrp="1"/>
          </p:cNvSpPr>
          <p:nvPr/>
        </p:nvSpPr>
        <p:spPr>
          <a:xfrm>
            <a:off x="5294473" y="6974765"/>
            <a:ext cx="636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9" name="文本框 63"/>
          <p:cNvSpPr>
            <a:spLocks noGrp="1"/>
          </p:cNvSpPr>
          <p:nvPr/>
        </p:nvSpPr>
        <p:spPr>
          <a:xfrm>
            <a:off x="3348819" y="3214293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73" name="文本框 63"/>
          <p:cNvSpPr>
            <a:spLocks noGrp="1"/>
          </p:cNvSpPr>
          <p:nvPr/>
        </p:nvSpPr>
        <p:spPr>
          <a:xfrm>
            <a:off x="3501219" y="3366693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75" name="矩形:"/>
          <p:cNvSpPr>
            <a:spLocks noGrp="1"/>
          </p:cNvSpPr>
          <p:nvPr/>
        </p:nvSpPr>
        <p:spPr>
          <a:xfrm>
            <a:off x="2330327" y="5600091"/>
            <a:ext cx="9474886" cy="822842"/>
          </a:xfrm>
          <a:prstGeom prst="snip2DiagRect">
            <a:avLst>
              <a:gd name="adj1" fmla="val 0"/>
              <a:gd name="adj2" fmla="val 26504"/>
            </a:avLst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4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目标是</a:t>
            </a:r>
            <a:r>
              <a:rPr sz="24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：</a:t>
            </a:r>
            <a:r>
              <a:rPr sz="24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建立可复现、可部署、可扩展的验证基础。</a:t>
            </a:r>
            <a:endParaRPr sz="2400" b="1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7" name="任意多边形: 形状 16"/>
          <p:cNvSpPr>
            <a:spLocks noGrp="1"/>
          </p:cNvSpPr>
          <p:nvPr/>
        </p:nvSpPr>
        <p:spPr>
          <a:xfrm>
            <a:off x="8626394" y="2557969"/>
            <a:ext cx="2787442" cy="598767"/>
          </a:xfrm>
          <a:custGeom>
            <a:avLst/>
            <a:gdLst>
              <a:gd name="connsiteX0" fmla="*/ 0 w 2787442"/>
              <a:gd name="connsiteY0" fmla="*/ 0 h 598767"/>
              <a:gd name="connsiteX1" fmla="*/ 468729 w 2787442"/>
              <a:gd name="connsiteY1" fmla="*/ 0 h 598767"/>
              <a:gd name="connsiteX2" fmla="*/ 2466589 w 2787442"/>
              <a:gd name="connsiteY2" fmla="*/ 0 h 598767"/>
              <a:gd name="connsiteX3" fmla="*/ 2787442 w 2787442"/>
              <a:gd name="connsiteY3" fmla="*/ 0 h 598767"/>
              <a:gd name="connsiteX4" fmla="*/ 2787442 w 2787442"/>
              <a:gd name="connsiteY4" fmla="*/ 299384 h 598767"/>
              <a:gd name="connsiteX5" fmla="*/ 2787442 w 2787442"/>
              <a:gd name="connsiteY5" fmla="*/ 598767 h 598767"/>
              <a:gd name="connsiteX6" fmla="*/ 2466589 w 2787442"/>
              <a:gd name="connsiteY6" fmla="*/ 598767 h 598767"/>
              <a:gd name="connsiteX7" fmla="*/ 468729 w 2787442"/>
              <a:gd name="connsiteY7" fmla="*/ 598767 h 598767"/>
              <a:gd name="connsiteX8" fmla="*/ 0 w 2787442"/>
              <a:gd name="connsiteY8" fmla="*/ 598767 h 598767"/>
              <a:gd name="connsiteX9" fmla="*/ 299384 w 2787442"/>
              <a:gd name="connsiteY9" fmla="*/ 299384 h 598767"/>
            </a:gdLst>
            <a:ahLst/>
            <a:cxnLst/>
            <a:rect l="l" t="t" r="r" b="b"/>
            <a:pathLst>
              <a:path w="2787442" h="598767">
                <a:moveTo>
                  <a:pt x="0" y="0"/>
                </a:moveTo>
                <a:lnTo>
                  <a:pt x="468729" y="0"/>
                </a:lnTo>
                <a:lnTo>
                  <a:pt x="2466589" y="0"/>
                </a:lnTo>
                <a:lnTo>
                  <a:pt x="2787442" y="0"/>
                </a:lnTo>
                <a:lnTo>
                  <a:pt x="2787442" y="299384"/>
                </a:lnTo>
                <a:lnTo>
                  <a:pt x="2787442" y="598767"/>
                </a:lnTo>
                <a:lnTo>
                  <a:pt x="2466589" y="598767"/>
                </a:lnTo>
                <a:lnTo>
                  <a:pt x="468729" y="598767"/>
                </a:lnTo>
                <a:lnTo>
                  <a:pt x="0" y="598767"/>
                </a:lnTo>
                <a:lnTo>
                  <a:pt x="299384" y="299384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2" name="文本框 12"/>
          <p:cNvSpPr>
            <a:spLocks noGrp="1"/>
          </p:cNvSpPr>
          <p:nvPr/>
        </p:nvSpPr>
        <p:spPr>
          <a:xfrm>
            <a:off x="2561561" y="2657297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chemeClr val="bg1"/>
                </a:solidFill>
                <a:latin typeface="思源宋体 CN Heavy"/>
                <a:ea typeface="思源宋体 CN Heavy"/>
                <a:cs typeface="思源宋体 CN Heavy"/>
              </a:rPr>
              <a:t>统一控制契约</a:t>
            </a:r>
            <a:endParaRPr sz="2000" b="1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4" name="文本框 13"/>
          <p:cNvSpPr>
            <a:spLocks noGrp="1"/>
          </p:cNvSpPr>
          <p:nvPr/>
        </p:nvSpPr>
        <p:spPr>
          <a:xfrm>
            <a:off x="5851823" y="2657297"/>
            <a:ext cx="2431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chemeClr val="bg1"/>
                </a:solidFill>
                <a:latin typeface="思源宋体 CN Heavy"/>
                <a:ea typeface="思源宋体 CN Heavy"/>
                <a:cs typeface="思源宋体 CN Heavy"/>
              </a:rPr>
              <a:t>安全实时决策</a:t>
            </a:r>
            <a:endParaRPr sz="2000" b="1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77" name="文本框 13"/>
          <p:cNvSpPr>
            <a:spLocks noGrp="1"/>
          </p:cNvSpPr>
          <p:nvPr/>
        </p:nvSpPr>
        <p:spPr>
          <a:xfrm>
            <a:off x="8995581" y="2661008"/>
            <a:ext cx="2431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chemeClr val="bg1"/>
                </a:solidFill>
                <a:latin typeface="思源宋体 CN Heavy"/>
                <a:ea typeface="思源宋体 CN Heavy"/>
                <a:cs typeface="思源宋体 CN Heavy"/>
              </a:rPr>
              <a:t>全链路联调验证</a:t>
            </a:r>
            <a:endParaRPr sz="2000" b="1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pic>
        <p:nvPicPr>
          <p:cNvPr id="108" name="图形 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296525" y="1227916"/>
            <a:ext cx="97408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" name="文本框 76"/>
          <p:cNvSpPr>
            <a:spLocks noGrp="1"/>
          </p:cNvSpPr>
          <p:nvPr/>
        </p:nvSpPr>
        <p:spPr>
          <a:xfrm>
            <a:off x="2773045" y="374015"/>
            <a:ext cx="9288145" cy="504190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r>
              <a:rPr sz="280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2.1 技术路线：云—边—端协同闭环</a:t>
            </a:r>
            <a:endParaRPr sz="280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" name="箭头: 五边形 1"/>
          <p:cNvSpPr>
            <a:spLocks noGrp="1"/>
          </p:cNvSpPr>
          <p:nvPr/>
        </p:nvSpPr>
        <p:spPr>
          <a:xfrm>
            <a:off x="2422291" y="2515440"/>
            <a:ext cx="3102052" cy="598767"/>
          </a:xfrm>
          <a:prstGeom prst="homePlate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" name="箭头: V 形 2"/>
          <p:cNvSpPr>
            <a:spLocks noGrp="1"/>
          </p:cNvSpPr>
          <p:nvPr/>
        </p:nvSpPr>
        <p:spPr>
          <a:xfrm>
            <a:off x="5524343" y="2515440"/>
            <a:ext cx="3102052" cy="598767"/>
          </a:xfrm>
          <a:prstGeom prst="chevron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" name="任意多边形: 形状 3"/>
          <p:cNvSpPr>
            <a:spLocks noGrp="1"/>
          </p:cNvSpPr>
          <p:nvPr/>
        </p:nvSpPr>
        <p:spPr>
          <a:xfrm>
            <a:off x="8626394" y="2515440"/>
            <a:ext cx="2787442" cy="598767"/>
          </a:xfrm>
          <a:custGeom>
            <a:avLst/>
            <a:gdLst>
              <a:gd name="connsiteX0" fmla="*/ 0 w 2787442"/>
              <a:gd name="connsiteY0" fmla="*/ 0 h 598767"/>
              <a:gd name="connsiteX1" fmla="*/ 468729 w 2787442"/>
              <a:gd name="connsiteY1" fmla="*/ 0 h 598767"/>
              <a:gd name="connsiteX2" fmla="*/ 2466589 w 2787442"/>
              <a:gd name="connsiteY2" fmla="*/ 0 h 598767"/>
              <a:gd name="connsiteX3" fmla="*/ 2787442 w 2787442"/>
              <a:gd name="connsiteY3" fmla="*/ 0 h 598767"/>
              <a:gd name="connsiteX4" fmla="*/ 2787442 w 2787442"/>
              <a:gd name="connsiteY4" fmla="*/ 299384 h 598767"/>
              <a:gd name="connsiteX5" fmla="*/ 2787442 w 2787442"/>
              <a:gd name="connsiteY5" fmla="*/ 598767 h 598767"/>
              <a:gd name="connsiteX6" fmla="*/ 2466589 w 2787442"/>
              <a:gd name="connsiteY6" fmla="*/ 598767 h 598767"/>
              <a:gd name="connsiteX7" fmla="*/ 468729 w 2787442"/>
              <a:gd name="connsiteY7" fmla="*/ 598767 h 598767"/>
              <a:gd name="connsiteX8" fmla="*/ 0 w 2787442"/>
              <a:gd name="connsiteY8" fmla="*/ 598767 h 598767"/>
              <a:gd name="connsiteX9" fmla="*/ 299384 w 2787442"/>
              <a:gd name="connsiteY9" fmla="*/ 299384 h 598767"/>
            </a:gdLst>
            <a:ahLst/>
            <a:cxnLst/>
            <a:rect l="l" t="t" r="r" b="b"/>
            <a:pathLst>
              <a:path w="2787442" h="598767">
                <a:moveTo>
                  <a:pt x="0" y="0"/>
                </a:moveTo>
                <a:lnTo>
                  <a:pt x="468729" y="0"/>
                </a:lnTo>
                <a:lnTo>
                  <a:pt x="2466589" y="0"/>
                </a:lnTo>
                <a:lnTo>
                  <a:pt x="2787442" y="0"/>
                </a:lnTo>
                <a:lnTo>
                  <a:pt x="2787442" y="299384"/>
                </a:lnTo>
                <a:lnTo>
                  <a:pt x="2787442" y="598767"/>
                </a:lnTo>
                <a:lnTo>
                  <a:pt x="2466589" y="598767"/>
                </a:lnTo>
                <a:lnTo>
                  <a:pt x="468729" y="598767"/>
                </a:lnTo>
                <a:lnTo>
                  <a:pt x="0" y="598767"/>
                </a:lnTo>
                <a:lnTo>
                  <a:pt x="299384" y="299384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:"/>
          <p:cNvSpPr>
            <a:spLocks noGrp="1"/>
          </p:cNvSpPr>
          <p:nvPr/>
        </p:nvSpPr>
        <p:spPr>
          <a:xfrm>
            <a:off x="2422290" y="3114207"/>
            <a:ext cx="2765973" cy="3297223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" name="矩形:"/>
          <p:cNvSpPr>
            <a:spLocks noGrp="1"/>
          </p:cNvSpPr>
          <p:nvPr/>
        </p:nvSpPr>
        <p:spPr>
          <a:xfrm>
            <a:off x="2428887" y="6353556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7" name="矩形:"/>
          <p:cNvSpPr>
            <a:spLocks noGrp="1"/>
          </p:cNvSpPr>
          <p:nvPr/>
        </p:nvSpPr>
        <p:spPr>
          <a:xfrm>
            <a:off x="5524342" y="3114207"/>
            <a:ext cx="2765973" cy="3239349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矩形:"/>
          <p:cNvSpPr>
            <a:spLocks noGrp="1"/>
          </p:cNvSpPr>
          <p:nvPr/>
        </p:nvSpPr>
        <p:spPr>
          <a:xfrm>
            <a:off x="8626394" y="3114207"/>
            <a:ext cx="2795029" cy="3239349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2561561" y="2614768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SUMO 仿真真值</a:t>
            </a:r>
            <a:endParaRPr sz="20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5851823" y="2614768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边缘实时决策</a:t>
            </a:r>
            <a:endParaRPr sz="20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5" name="文本框 15"/>
          <p:cNvSpPr>
            <a:spLocks noGrp="1"/>
          </p:cNvSpPr>
          <p:nvPr/>
        </p:nvSpPr>
        <p:spPr>
          <a:xfrm>
            <a:off x="2561560" y="3994127"/>
            <a:ext cx="2401574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 b="1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6×5“窄路密网”</a:t>
            </a: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真实早/平/晚高峰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TraCI 真值、推进与执行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6" name="文本框 16"/>
          <p:cNvSpPr>
            <a:spLocks noGrp="1"/>
          </p:cNvSpPr>
          <p:nvPr/>
        </p:nvSpPr>
        <p:spPr>
          <a:xfrm>
            <a:off x="5609865" y="3994127"/>
            <a:ext cx="2427426" cy="17221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30 路口共享参数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4 相位掩码约束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批量动作回传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9" name="矩形:"/>
          <p:cNvSpPr>
            <a:spLocks noGrp="1"/>
          </p:cNvSpPr>
          <p:nvPr/>
        </p:nvSpPr>
        <p:spPr>
          <a:xfrm>
            <a:off x="2395632" y="1257909"/>
            <a:ext cx="9306156" cy="822843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7" name="矩形:"/>
          <p:cNvSpPr>
            <a:spLocks noGrp="1"/>
          </p:cNvSpPr>
          <p:nvPr/>
        </p:nvSpPr>
        <p:spPr>
          <a:xfrm>
            <a:off x="2395632" y="1257909"/>
            <a:ext cx="556173" cy="822843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3077213" y="1308096"/>
            <a:ext cx="8152659" cy="795756"/>
          </a:xfrm>
          <a:prstGeom prst="rect">
            <a:avLst/>
          </a:prstGeom>
          <a:noFill/>
        </p:spPr>
        <p:txBody>
          <a:bodyPr wrap="square" lIns="82525" tIns="41262" rIns="82525" bIns="41262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buNone/>
            </a:pPr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以仿真真值、边缘控制和云端分析为职责边界，将 30 路口场景、DQN 决策、可视化和部署接入同一条可审计链路。</a:t>
            </a:r>
            <a:endParaRPr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4" name="文本框 53"/>
          <p:cNvSpPr>
            <a:spLocks noGrp="1"/>
          </p:cNvSpPr>
          <p:nvPr/>
        </p:nvSpPr>
        <p:spPr>
          <a:xfrm>
            <a:off x="8962475" y="2589752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云端与展示</a:t>
            </a:r>
            <a:endParaRPr sz="20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5" name="文本框 15"/>
          <p:cNvSpPr>
            <a:spLocks noGrp="1"/>
          </p:cNvSpPr>
          <p:nvPr/>
        </p:nvSpPr>
        <p:spPr>
          <a:xfrm>
            <a:off x="2561561" y="3291674"/>
            <a:ext cx="231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30 路口 × 三场景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6" name="文本框 15"/>
          <p:cNvSpPr>
            <a:spLocks noGrp="1"/>
          </p:cNvSpPr>
          <p:nvPr/>
        </p:nvSpPr>
        <p:spPr>
          <a:xfrm>
            <a:off x="5713914" y="3291674"/>
            <a:ext cx="2427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660维 → 30×26维</a:t>
            </a: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7" name="文本框 15"/>
          <p:cNvSpPr>
            <a:spLocks noGrp="1"/>
          </p:cNvSpPr>
          <p:nvPr/>
        </p:nvSpPr>
        <p:spPr>
          <a:xfrm>
            <a:off x="8945514" y="3291674"/>
            <a:ext cx="2427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服务化与可观测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7" name="文本框 17"/>
          <p:cNvSpPr>
            <a:spLocks noGrp="1"/>
          </p:cNvSpPr>
          <p:nvPr/>
        </p:nvSpPr>
        <p:spPr>
          <a:xfrm>
            <a:off x="8807605" y="3994127"/>
            <a:ext cx="2318713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ONNX + Docker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Unity + WebSocket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可视化与指标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0" name="矩形:"/>
          <p:cNvSpPr>
            <a:spLocks noGrp="1"/>
          </p:cNvSpPr>
          <p:nvPr/>
        </p:nvSpPr>
        <p:spPr>
          <a:xfrm>
            <a:off x="5517745" y="6333636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1" name="矩形:"/>
          <p:cNvSpPr>
            <a:spLocks noGrp="1"/>
          </p:cNvSpPr>
          <p:nvPr/>
        </p:nvSpPr>
        <p:spPr>
          <a:xfrm>
            <a:off x="8655450" y="6324619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2" name="直接连接符 61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文本框 64"/>
          <p:cNvSpPr>
            <a:spLocks noGrp="1"/>
          </p:cNvSpPr>
          <p:nvPr/>
        </p:nvSpPr>
        <p:spPr>
          <a:xfrm>
            <a:off x="5294473" y="6974765"/>
            <a:ext cx="636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6" name="文本框 63"/>
          <p:cNvSpPr>
            <a:spLocks noGrp="1"/>
          </p:cNvSpPr>
          <p:nvPr/>
        </p:nvSpPr>
        <p:spPr>
          <a:xfrm>
            <a:off x="3348819" y="3171764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67" name="文本框 63"/>
          <p:cNvSpPr>
            <a:spLocks noGrp="1"/>
          </p:cNvSpPr>
          <p:nvPr/>
        </p:nvSpPr>
        <p:spPr>
          <a:xfrm>
            <a:off x="4664710" y="6638925"/>
            <a:ext cx="7888605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 sz="8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文本框 63"/>
          <p:cNvSpPr>
            <a:spLocks noGrp="1"/>
          </p:cNvSpPr>
          <p:nvPr/>
        </p:nvSpPr>
        <p:spPr>
          <a:xfrm>
            <a:off x="3501219" y="3324164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8" name="矩形:"/>
          <p:cNvSpPr>
            <a:spLocks noGrp="1"/>
          </p:cNvSpPr>
          <p:nvPr/>
        </p:nvSpPr>
        <p:spPr>
          <a:xfrm>
            <a:off x="2364796" y="6214249"/>
            <a:ext cx="9474886" cy="379512"/>
          </a:xfrm>
          <a:prstGeom prst="snip2DiagRect">
            <a:avLst>
              <a:gd name="adj1" fmla="val 0"/>
              <a:gd name="adj2" fmla="val 26504"/>
            </a:avLst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/>
              <a:t>SUMO 负责真值，DQN 负责秒级相位选择，LLM 仅作慢周期建议。</a:t>
            </a:r>
            <a:endParaRPr b="1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773086" y="374000"/>
            <a:ext cx="9164913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r>
              <a:rPr sz="280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2.2 控制周期：660维状态驱动30路口批量决策</a:t>
            </a:r>
            <a:endParaRPr sz="280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54554" y="1132048"/>
            <a:ext cx="4642930" cy="48862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54554" y="1132047"/>
            <a:ext cx="4642929" cy="713176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2397489" y="1297326"/>
            <a:ext cx="4642929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状态组织</a:t>
            </a:r>
            <a:endParaRPr b="1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20117" y="1132047"/>
            <a:ext cx="4527150" cy="48862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20117" y="1132048"/>
            <a:ext cx="4527150" cy="713177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r>
              <a:t>动作执行与安全</a:t>
            </a: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7" name="矩形: 剪去对角 46"/>
          <p:cNvSpPr>
            <a:spLocks noGrp="1"/>
          </p:cNvSpPr>
          <p:nvPr/>
        </p:nvSpPr>
        <p:spPr>
          <a:xfrm>
            <a:off x="2305693" y="6208762"/>
            <a:ext cx="9632306" cy="532571"/>
          </a:xfrm>
          <a:prstGeom prst="snip2Diag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9" name="梯形 48"/>
          <p:cNvSpPr>
            <a:spLocks noGrp="1"/>
          </p:cNvSpPr>
          <p:nvPr/>
        </p:nvSpPr>
        <p:spPr>
          <a:xfrm>
            <a:off x="2380512" y="6116991"/>
            <a:ext cx="9467914" cy="187782"/>
          </a:xfrm>
          <a:prstGeom prst="trapezoid">
            <a:avLst>
              <a:gd name="adj" fmla="val 203099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6000">
                <a:schemeClr val="accent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0" name="箭头: 下 19"/>
          <p:cNvSpPr>
            <a:spLocks noGrp="1"/>
          </p:cNvSpPr>
          <p:nvPr/>
        </p:nvSpPr>
        <p:spPr>
          <a:xfrm rot="16200000">
            <a:off x="6726786" y="2940726"/>
            <a:ext cx="778010" cy="1373980"/>
          </a:xfrm>
          <a:prstGeom prst="downArrow">
            <a:avLst>
              <a:gd name="adj1" fmla="val 50000"/>
              <a:gd name="adj2" fmla="val 51073"/>
            </a:avLst>
          </a:prstGeom>
          <a:gradFill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rgbClr val="A2B7D5"/>
              </a:gs>
              <a:gs pos="78000">
                <a:srgbClr val="A2B7D5"/>
              </a:gs>
              <a:gs pos="100000">
                <a:srgbClr val="A2B7D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6471811" y="3422284"/>
            <a:ext cx="1287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26维</a:t>
            </a:r>
            <a:endParaRPr sz="1050" b="1">
              <a:ln w="3810">
                <a:solidFill>
                  <a:schemeClr val="bg1"/>
                </a:solidFill>
              </a:ln>
            </a:endParaRPr>
          </a:p>
          <a:p>
            <a:pPr algn="ctr">
              <a:buNone/>
            </a:pPr>
            <a:r>
              <a:t>→30动作</a:t>
            </a:r>
            <a:endParaRPr sz="1050" b="1">
              <a:ln w="3810">
                <a:solidFill>
                  <a:schemeClr val="bg1"/>
                </a:solidFill>
              </a:ln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667000" y="2238375"/>
            <a:ext cx="39052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J01–J30 固定顺序拼接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每路口 22 维：排队、等待、占有率、溢出风险、当前相位与时间特征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全局状态：30×22 = 660 维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追加 4 维绝对动作掩码，形成 26 维局部观测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620000" y="2238375"/>
            <a:ext cx="381000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ONNX 一次批量推理 30 行×26 维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输出每路口 4 个 Q 值，选择合法相位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校验路口完整性、掩码、最小绿灯 15 s 与黄灯过渡 3 s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TraCI 同帧回写并广播新快照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857500" y="6267450"/>
            <a:ext cx="8858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同一仿真时刻读取、批量决策、批量执行，避免逐路口推进产生时间不一致。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" name="文本框 76"/>
          <p:cNvSpPr>
            <a:spLocks noGrp="1"/>
          </p:cNvSpPr>
          <p:nvPr/>
        </p:nvSpPr>
        <p:spPr>
          <a:xfrm>
            <a:off x="2773045" y="374015"/>
            <a:ext cx="9288145" cy="504190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r>
              <a:rPr sz="280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2.3 Unity展示层：30路口的实时表达与演示交互</a:t>
            </a:r>
            <a:endParaRPr sz="280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" name="箭头: 五边形 1"/>
          <p:cNvSpPr>
            <a:spLocks noGrp="1"/>
          </p:cNvSpPr>
          <p:nvPr/>
        </p:nvSpPr>
        <p:spPr>
          <a:xfrm>
            <a:off x="2422291" y="2515440"/>
            <a:ext cx="3102052" cy="598767"/>
          </a:xfrm>
          <a:prstGeom prst="homePlate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" name="箭头: V 形 2"/>
          <p:cNvSpPr>
            <a:spLocks noGrp="1"/>
          </p:cNvSpPr>
          <p:nvPr/>
        </p:nvSpPr>
        <p:spPr>
          <a:xfrm>
            <a:off x="5524343" y="2515440"/>
            <a:ext cx="3102052" cy="598767"/>
          </a:xfrm>
          <a:prstGeom prst="chevron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" name="任意多边形: 形状 3"/>
          <p:cNvSpPr>
            <a:spLocks noGrp="1"/>
          </p:cNvSpPr>
          <p:nvPr/>
        </p:nvSpPr>
        <p:spPr>
          <a:xfrm>
            <a:off x="8626394" y="2515440"/>
            <a:ext cx="2787442" cy="598767"/>
          </a:xfrm>
          <a:custGeom>
            <a:avLst/>
            <a:gdLst>
              <a:gd name="connsiteX0" fmla="*/ 0 w 2787442"/>
              <a:gd name="connsiteY0" fmla="*/ 0 h 598767"/>
              <a:gd name="connsiteX1" fmla="*/ 468729 w 2787442"/>
              <a:gd name="connsiteY1" fmla="*/ 0 h 598767"/>
              <a:gd name="connsiteX2" fmla="*/ 2466589 w 2787442"/>
              <a:gd name="connsiteY2" fmla="*/ 0 h 598767"/>
              <a:gd name="connsiteX3" fmla="*/ 2787442 w 2787442"/>
              <a:gd name="connsiteY3" fmla="*/ 0 h 598767"/>
              <a:gd name="connsiteX4" fmla="*/ 2787442 w 2787442"/>
              <a:gd name="connsiteY4" fmla="*/ 299384 h 598767"/>
              <a:gd name="connsiteX5" fmla="*/ 2787442 w 2787442"/>
              <a:gd name="connsiteY5" fmla="*/ 598767 h 598767"/>
              <a:gd name="connsiteX6" fmla="*/ 2466589 w 2787442"/>
              <a:gd name="connsiteY6" fmla="*/ 598767 h 598767"/>
              <a:gd name="connsiteX7" fmla="*/ 468729 w 2787442"/>
              <a:gd name="connsiteY7" fmla="*/ 598767 h 598767"/>
              <a:gd name="connsiteX8" fmla="*/ 0 w 2787442"/>
              <a:gd name="connsiteY8" fmla="*/ 598767 h 598767"/>
              <a:gd name="connsiteX9" fmla="*/ 299384 w 2787442"/>
              <a:gd name="connsiteY9" fmla="*/ 299384 h 598767"/>
            </a:gdLst>
            <a:ahLst/>
            <a:cxnLst/>
            <a:rect l="l" t="t" r="r" b="b"/>
            <a:pathLst>
              <a:path w="2787442" h="598767">
                <a:moveTo>
                  <a:pt x="0" y="0"/>
                </a:moveTo>
                <a:lnTo>
                  <a:pt x="468729" y="0"/>
                </a:lnTo>
                <a:lnTo>
                  <a:pt x="2466589" y="0"/>
                </a:lnTo>
                <a:lnTo>
                  <a:pt x="2787442" y="0"/>
                </a:lnTo>
                <a:lnTo>
                  <a:pt x="2787442" y="299384"/>
                </a:lnTo>
                <a:lnTo>
                  <a:pt x="2787442" y="598767"/>
                </a:lnTo>
                <a:lnTo>
                  <a:pt x="2466589" y="598767"/>
                </a:lnTo>
                <a:lnTo>
                  <a:pt x="468729" y="598767"/>
                </a:lnTo>
                <a:lnTo>
                  <a:pt x="0" y="598767"/>
                </a:lnTo>
                <a:lnTo>
                  <a:pt x="299384" y="299384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:"/>
          <p:cNvSpPr>
            <a:spLocks noGrp="1"/>
          </p:cNvSpPr>
          <p:nvPr/>
        </p:nvSpPr>
        <p:spPr>
          <a:xfrm>
            <a:off x="2422290" y="3114207"/>
            <a:ext cx="2765973" cy="3297223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" name="矩形:"/>
          <p:cNvSpPr>
            <a:spLocks noGrp="1"/>
          </p:cNvSpPr>
          <p:nvPr/>
        </p:nvSpPr>
        <p:spPr>
          <a:xfrm>
            <a:off x="2428887" y="6353556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7" name="矩形:"/>
          <p:cNvSpPr>
            <a:spLocks noGrp="1"/>
          </p:cNvSpPr>
          <p:nvPr/>
        </p:nvSpPr>
        <p:spPr>
          <a:xfrm>
            <a:off x="5524342" y="3114207"/>
            <a:ext cx="2765973" cy="3239349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矩形:"/>
          <p:cNvSpPr>
            <a:spLocks noGrp="1"/>
          </p:cNvSpPr>
          <p:nvPr/>
        </p:nvSpPr>
        <p:spPr>
          <a:xfrm>
            <a:off x="8626394" y="3114207"/>
            <a:ext cx="2795029" cy="3239349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2561561" y="2614768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路网构建</a:t>
            </a:r>
            <a:endParaRPr sz="20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5851823" y="2614768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相位可视化</a:t>
            </a:r>
            <a:endParaRPr sz="20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5" name="文本框 15"/>
          <p:cNvSpPr>
            <a:spLocks noGrp="1"/>
          </p:cNvSpPr>
          <p:nvPr/>
        </p:nvSpPr>
        <p:spPr>
          <a:xfrm>
            <a:off x="2561560" y="3994127"/>
            <a:ext cx="2401574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6" name="文本框 16"/>
          <p:cNvSpPr>
            <a:spLocks noGrp="1"/>
          </p:cNvSpPr>
          <p:nvPr/>
        </p:nvSpPr>
        <p:spPr>
          <a:xfrm>
            <a:off x="5609865" y="3994127"/>
            <a:ext cx="2427426" cy="17221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9" name="矩形:"/>
          <p:cNvSpPr>
            <a:spLocks noGrp="1"/>
          </p:cNvSpPr>
          <p:nvPr/>
        </p:nvSpPr>
        <p:spPr>
          <a:xfrm>
            <a:off x="2395632" y="1257909"/>
            <a:ext cx="9306156" cy="822843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7" name="矩形:"/>
          <p:cNvSpPr>
            <a:spLocks noGrp="1"/>
          </p:cNvSpPr>
          <p:nvPr/>
        </p:nvSpPr>
        <p:spPr>
          <a:xfrm>
            <a:off x="2395632" y="1257909"/>
            <a:ext cx="556173" cy="822843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3077213" y="1308096"/>
            <a:ext cx="8152659" cy="1152372"/>
          </a:xfrm>
          <a:prstGeom prst="rect">
            <a:avLst/>
          </a:prstGeom>
          <a:noFill/>
        </p:spPr>
        <p:txBody>
          <a:bodyPr wrap="square" lIns="82525" tIns="41262" rIns="82525" bIns="41262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buNone/>
            </a:pPr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Unity 只表达 SUMO 快照，不自行生成交通状态；道路、信号灯、车辆与指标均随同一仿真时刻刷新。</a:t>
            </a:r>
            <a:endParaRPr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4" name="文本框 53"/>
          <p:cNvSpPr>
            <a:spLocks noGrp="1"/>
          </p:cNvSpPr>
          <p:nvPr/>
        </p:nvSpPr>
        <p:spPr>
          <a:xfrm>
            <a:off x="8962475" y="2589752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车辆与镜头</a:t>
            </a:r>
            <a:endParaRPr sz="20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5" name="文本框 15"/>
          <p:cNvSpPr>
            <a:spLocks noGrp="1"/>
          </p:cNvSpPr>
          <p:nvPr/>
        </p:nvSpPr>
        <p:spPr>
          <a:xfrm>
            <a:off x="2561561" y="3291674"/>
            <a:ext cx="231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唯一地图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6" name="文本框 15"/>
          <p:cNvSpPr>
            <a:spLocks noGrp="1"/>
          </p:cNvSpPr>
          <p:nvPr/>
        </p:nvSpPr>
        <p:spPr>
          <a:xfrm>
            <a:off x="5713914" y="3291674"/>
            <a:ext cx="2427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直行与左转</a:t>
            </a: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7" name="文本框 15"/>
          <p:cNvSpPr>
            <a:spLocks noGrp="1"/>
          </p:cNvSpPr>
          <p:nvPr/>
        </p:nvSpPr>
        <p:spPr>
          <a:xfrm>
            <a:off x="8945514" y="3291674"/>
            <a:ext cx="2427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性能与演示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7" name="文本框 17"/>
          <p:cNvSpPr>
            <a:spLocks noGrp="1"/>
          </p:cNvSpPr>
          <p:nvPr/>
        </p:nvSpPr>
        <p:spPr>
          <a:xfrm>
            <a:off x="8807605" y="3994127"/>
            <a:ext cx="2318713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0" name="矩形:"/>
          <p:cNvSpPr>
            <a:spLocks noGrp="1"/>
          </p:cNvSpPr>
          <p:nvPr/>
        </p:nvSpPr>
        <p:spPr>
          <a:xfrm>
            <a:off x="5517745" y="6333636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1" name="矩形:"/>
          <p:cNvSpPr>
            <a:spLocks noGrp="1"/>
          </p:cNvSpPr>
          <p:nvPr/>
        </p:nvSpPr>
        <p:spPr>
          <a:xfrm>
            <a:off x="8655450" y="6324619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2" name="直接连接符 61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文本框 64"/>
          <p:cNvSpPr>
            <a:spLocks noGrp="1"/>
          </p:cNvSpPr>
          <p:nvPr/>
        </p:nvSpPr>
        <p:spPr>
          <a:xfrm>
            <a:off x="5294473" y="6974765"/>
            <a:ext cx="636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6" name="文本框 63"/>
          <p:cNvSpPr>
            <a:spLocks noGrp="1"/>
          </p:cNvSpPr>
          <p:nvPr/>
        </p:nvSpPr>
        <p:spPr>
          <a:xfrm>
            <a:off x="3348819" y="3171764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67" name="文本框 63"/>
          <p:cNvSpPr>
            <a:spLocks noGrp="1"/>
          </p:cNvSpPr>
          <p:nvPr/>
        </p:nvSpPr>
        <p:spPr>
          <a:xfrm>
            <a:off x="4664710" y="6638925"/>
            <a:ext cx="7888605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 sz="8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文本框 63"/>
          <p:cNvSpPr>
            <a:spLocks noGrp="1"/>
          </p:cNvSpPr>
          <p:nvPr/>
        </p:nvSpPr>
        <p:spPr>
          <a:xfrm>
            <a:off x="3501219" y="3324164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8" name="矩形:"/>
          <p:cNvSpPr>
            <a:spLocks noGrp="1"/>
          </p:cNvSpPr>
          <p:nvPr/>
        </p:nvSpPr>
        <p:spPr>
          <a:xfrm>
            <a:off x="2364796" y="6214249"/>
            <a:ext cx="9474886" cy="379512"/>
          </a:xfrm>
          <a:prstGeom prst="snip2DiagRect">
            <a:avLst>
              <a:gd name="adj1" fmla="val 0"/>
              <a:gd name="adj2" fmla="val 26504"/>
            </a:avLst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1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2667000" y="4095750"/>
            <a:ext cx="2238375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 xiongan_30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路口 / 30 灯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清理静态车辆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网格建筑填充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5762625" y="4095750"/>
            <a:ext cx="2238375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四相位独立显示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直行与保护左转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箭头灯随相位更新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8858250" y="4095750"/>
            <a:ext cx="2238375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车辆池 120–900</a:t>
            </a:r>
            <a:endParaRPr sz="120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单帧预算 850</a:t>
            </a:r>
            <a:endParaRPr sz="120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全景和两组近景</a:t>
            </a:r>
            <a:endParaRPr sz="120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Dashboard 刷新状态</a:t>
            </a:r>
            <a:endParaRPr sz="120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2905125" y="626745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支持三场景切换，统一展示模型状态、信号执行和交通指标。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773086" y="374000"/>
            <a:ext cx="9164913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r>
              <a:rPr sz="280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2.4 闭环验收：三场景切换与连续运行</a:t>
            </a:r>
            <a:endParaRPr sz="280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54554" y="1132048"/>
            <a:ext cx="4642930" cy="48862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54554" y="1132047"/>
            <a:ext cx="4642929" cy="713176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2397489" y="1297326"/>
            <a:ext cx="4642929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场景切换与控制链路</a:t>
            </a:r>
            <a:endParaRPr b="1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20117" y="1132047"/>
            <a:ext cx="4527150" cy="48862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20117" y="1132048"/>
            <a:ext cx="4527150" cy="713177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r>
              <a:t>可核验结果</a:t>
            </a: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7" name="矩形: 剪去对角 46"/>
          <p:cNvSpPr>
            <a:spLocks noGrp="1"/>
          </p:cNvSpPr>
          <p:nvPr/>
        </p:nvSpPr>
        <p:spPr>
          <a:xfrm>
            <a:off x="2305693" y="6208762"/>
            <a:ext cx="9632306" cy="532571"/>
          </a:xfrm>
          <a:prstGeom prst="snip2Diag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9" name="梯形 48"/>
          <p:cNvSpPr>
            <a:spLocks noGrp="1"/>
          </p:cNvSpPr>
          <p:nvPr/>
        </p:nvSpPr>
        <p:spPr>
          <a:xfrm>
            <a:off x="2380512" y="6116991"/>
            <a:ext cx="9467914" cy="187782"/>
          </a:xfrm>
          <a:prstGeom prst="trapezoid">
            <a:avLst>
              <a:gd name="adj" fmla="val 203099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6000">
                <a:schemeClr val="accent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0" name="箭头: 下 19"/>
          <p:cNvSpPr>
            <a:spLocks noGrp="1"/>
          </p:cNvSpPr>
          <p:nvPr/>
        </p:nvSpPr>
        <p:spPr>
          <a:xfrm rot="16200000">
            <a:off x="6726786" y="2940726"/>
            <a:ext cx="778010" cy="1373980"/>
          </a:xfrm>
          <a:prstGeom prst="downArrow">
            <a:avLst>
              <a:gd name="adj1" fmla="val 50000"/>
              <a:gd name="adj2" fmla="val 51073"/>
            </a:avLst>
          </a:prstGeom>
          <a:gradFill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rgbClr val="A2B7D5"/>
              </a:gs>
              <a:gs pos="78000">
                <a:srgbClr val="A2B7D5"/>
              </a:gs>
              <a:gs pos="100000">
                <a:srgbClr val="A2B7D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6471811" y="3422284"/>
            <a:ext cx="1287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sz="1050" b="1">
              <a:ln w="3810">
                <a:solidFill>
                  <a:schemeClr val="bg1"/>
                </a:solidFill>
              </a:ln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667000" y="2238375"/>
            <a:ext cx="39052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real_peak、real_offpeak、real_evening 由 Unity 侧发起切换。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每一控制周期：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 → WebSocket → SUMO 状态 → ONNX DQN 掩码推理 → 30 个动作回传 → TraCI 信号执行 → Unity 刷新。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每帧校验 660 维状态、30×4 掩码、30 个动作及 30 盏信号灯。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620000" y="2238375"/>
            <a:ext cx="381000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模型保真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2,880 条真实 SUMO 状态动作一致率 100%。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分钟连续运行，记录 1,279 个状态快照，协议错误与超时均为 0。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恢复能力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断线后可自动重连，并继续接收状态、车辆和信号灯刷新。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857500" y="6267450"/>
            <a:ext cx="8858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验收重点：三场景完成模型映射与指标重置，30 路口车辆和灯色持续随相位变化。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4" y="411479"/>
            <a:ext cx="301752" cy="3017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475488"/>
            <a:ext cx="301752" cy="3017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98064" y="374904"/>
            <a:ext cx="89336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微软雅黑" panose="020B0503020204020204" charset="-122"/>
              </a:defRPr>
            </a:pPr>
            <a:r>
              <a:t>3.1 高保真仿真环境构建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0864" y="877824"/>
            <a:ext cx="9244584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32304" y="1143000"/>
            <a:ext cx="9208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30路口"窄路密网"场景 + 三时段真实交通流 + 规范化信号方案，构建可复现的数字靶场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0864" y="1828800"/>
            <a:ext cx="2959607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40864" y="1828800"/>
            <a:ext cx="2959607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路网设计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2542032"/>
            <a:ext cx="2630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30路口 6×5 网格布局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双向3车道，限速50km/h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路口间距短，贴近"窄路密网"特征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5种rl4相位模板（A:20/B:4/C:3/D:2/E:1）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统一路口顺序 J01-J30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6504" y="1828800"/>
            <a:ext cx="2959607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56504" y="1828800"/>
            <a:ext cx="2959607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366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信号方案规范化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1095" y="2542032"/>
            <a:ext cx="2630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4个可控相位（排除黄灯相位）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最小绿灯 15s + 黄灯过渡 3s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右转/掉头改为让行绿灯g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消除 Unsafe green 冲突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复验：0碰撞，0传送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2144" y="1828800"/>
            <a:ext cx="2959607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2144" y="1828800"/>
            <a:ext cx="2959607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930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三场景交通流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6736" y="2542032"/>
            <a:ext cx="2630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早高峰：51,868 辆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平峰：44,947 辆（需求因子0.60）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晚高峰：50,296 辆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均为 7,200s 时间窗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按定周期基线容量标定，基线"通而不堵"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76856" y="6217920"/>
            <a:ext cx="9628632" cy="5303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78024" y="6291072"/>
            <a:ext cx="9116567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环境验收：TraCI查询到恰好30个信号灯，真实定周期基线7200s全通无死锁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4" y="411479"/>
            <a:ext cx="301752" cy="3017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475488"/>
            <a:ext cx="301752" cy="3017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98064" y="374904"/>
            <a:ext cx="89336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微软雅黑" panose="020B0503020204020204" charset="-122"/>
              </a:defRPr>
            </a:pPr>
            <a:r>
              <a:t>3.2 DQN算法实现与训练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0864" y="877824"/>
            <a:ext cx="9244584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32304" y="1143000"/>
            <a:ext cx="9208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共享参数 Double-DQN + 需求门控动作掩码 + 模板分层采样，适配异构路口结构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0864" y="1828800"/>
            <a:ext cx="2959607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40864" y="1828800"/>
            <a:ext cx="2959607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状态与动作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2542032"/>
            <a:ext cx="2630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660维全局状态（30×22）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22维局部观测 + 4维掩码 = 26维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4动作 + 需求门控掩码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40864" y="3840480"/>
            <a:ext cx="2959607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40864" y="3840480"/>
            <a:ext cx="2959607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391363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奖励函数 V5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4553712"/>
            <a:ext cx="2630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溢出风险权重 2.0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真实通过数权重 2.0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队列压力 0.8 + 最大排队 0.6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均衡/停滞/切换惩罚项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6504" y="1828800"/>
            <a:ext cx="2959607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56504" y="1828800"/>
            <a:ext cx="2959607" cy="5943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366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网络与训练配置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1095" y="2542032"/>
            <a:ext cx="2630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Double-DQN + 64×64 双层 MLP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总参数量约 11,784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掩码：MASK_FILL = 3.0e38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模板分层采样（A:0.45/B:0.15/C:0.20/D:0.10/E:0.10）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学习率 3e-4，批大小 256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回放缓冲 200,000，ε 1.0→0.1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GPU 实测约 18 steps/s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2144" y="1828800"/>
            <a:ext cx="2959607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2144" y="1828800"/>
            <a:ext cx="2959607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930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动作掩码机制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6736" y="2542032"/>
            <a:ext cx="2630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需求门控，根治相位锁死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非C模板：全[1,1,1,1]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rl4模板：统计绿灯链路停车辆数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停车辆数 ≥ 1 → 该动作掩码为1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全动作无需求时兜底全1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解决异构拓扑上的相位锁死问题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76856" y="6217920"/>
            <a:ext cx="9628632" cy="5303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78024" y="6291072"/>
            <a:ext cx="9116567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核心创新：需求门控动作掩码 + 模板分层采样，统一策略在5种异构路口上合法运行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4" y="411479"/>
            <a:ext cx="301752" cy="3017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475488"/>
            <a:ext cx="301752" cy="3017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98064" y="374904"/>
            <a:ext cx="89336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微软雅黑" panose="020B0503020204020204" charset="-122"/>
              </a:defRPr>
            </a:pPr>
            <a:r>
              <a:t>3.3 模型轻量化与容器化部署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0864" y="877824"/>
            <a:ext cx="9244584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32304" y="1143000"/>
            <a:ext cx="9208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SB3教师模型 → ONNX导出 → Docker容器化，全链路保真验证达标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0864" y="1828800"/>
            <a:ext cx="2959607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78024" y="2057400"/>
            <a:ext cx="26852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25.14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024" y="2788920"/>
            <a:ext cx="26852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模型体积（目标 &lt;1MB）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0864" y="3840480"/>
            <a:ext cx="2959607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78024" y="4069080"/>
            <a:ext cx="26852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t>0.022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8024" y="4892040"/>
            <a:ext cx="26852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单路口推理（目标 &lt;5ms）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6504" y="1828800"/>
            <a:ext cx="2959607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56504" y="1828800"/>
            <a:ext cx="2959607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366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轻量化链路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1095" y="2542032"/>
            <a:ext cx="2630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SB3 教师模型 (zip ~121KB)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↓ TorchScript 转换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↓ ONNX opset 17 导出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FP32 ONNX：25,742B（~25.14KB）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体积较教师减少约 79%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保真验证：100% 动作一致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2,880条真实SUMO状态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三场景 × 8代表路口 × 120决策</a:t>
            </a:r>
          </a:p>
        </p:txBody>
      </p:sp>
      <p:pic>
        <p:nvPicPr>
          <p:cNvPr id="17" name="Picture 16" descr="lightweight_comparison_900x52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2144" y="1828800"/>
            <a:ext cx="2959607" cy="20116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772144" y="3977639"/>
            <a:ext cx="2959607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2144" y="3977639"/>
            <a:ext cx="2959607" cy="5943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9304" y="4050791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Docker 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6736" y="4690872"/>
            <a:ext cx="263042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镜像 394 MiB，双容器一键启动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edge + api 健康检查全 PASS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模型/路网只读卷挂载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6856" y="6217920"/>
            <a:ext cx="9628632" cy="5303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78024" y="6291072"/>
            <a:ext cx="9116567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负面发现：INT8量化真实一致率仅84-93%——轻量化必须逐任务实测验证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4" y="411479"/>
            <a:ext cx="301752" cy="3017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475488"/>
            <a:ext cx="301752" cy="3017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98064" y="374904"/>
            <a:ext cx="89336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微软雅黑" panose="020B0503020204020204" charset="-122"/>
              </a:defRPr>
            </a:pPr>
            <a:r>
              <a:t>3.4 三场景对比实验结果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0864" y="877824"/>
            <a:ext cx="9244584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2386584" y="960120"/>
            <a:ext cx="9208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DQN vs 真实Fixed-Time 同负荷对比，8路口代表口径 + 30路口全量口径</a:t>
            </a:r>
          </a:p>
        </p:txBody>
      </p:sp>
      <p:pic>
        <p:nvPicPr>
          <p:cNvPr id="7" name="Picture 6" descr="scenario_comparison_1050x60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23414" y="1508760"/>
            <a:ext cx="4754880" cy="2743200"/>
          </a:xfrm>
          <a:prstGeom prst="rect">
            <a:avLst/>
          </a:prstGeom>
        </p:spPr>
      </p:pic>
      <p:pic>
        <p:nvPicPr>
          <p:cNvPr id="8" name="Picture 7" descr="template_wins_900x525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23414" y="4251960"/>
            <a:ext cx="4754880" cy="2103120"/>
          </a:xfrm>
          <a:prstGeom prst="rect">
            <a:avLst/>
          </a:prstGeom>
        </p:spPr>
      </p:pic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8029194" y="3886200"/>
            <a:ext cx="2959607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9" name="组合 18"/>
          <p:cNvGrpSpPr/>
          <p:nvPr>
            <p:custDataLst>
              <p:tags r:id="rId7"/>
            </p:custDataLst>
          </p:nvPr>
        </p:nvGrpSpPr>
        <p:grpSpPr>
          <a:xfrm>
            <a:off x="7991475" y="1373505"/>
            <a:ext cx="2959100" cy="4457700"/>
            <a:chOff x="12644" y="2736"/>
            <a:chExt cx="4660" cy="7020"/>
          </a:xfrm>
        </p:grpSpPr>
        <p:sp>
          <p:nvSpPr>
            <p:cNvPr id="9" name="Rounded Rectangle 8"/>
            <p:cNvSpPr/>
            <p:nvPr>
              <p:custDataLst>
                <p:tags r:id="rId8"/>
              </p:custDataLst>
            </p:nvPr>
          </p:nvSpPr>
          <p:spPr>
            <a:xfrm>
              <a:off x="12644" y="2794"/>
              <a:ext cx="4661" cy="36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>
              <p:custDataLst>
                <p:tags r:id="rId9"/>
              </p:custDataLst>
            </p:nvPr>
          </p:nvSpPr>
          <p:spPr>
            <a:xfrm>
              <a:off x="12644" y="2736"/>
              <a:ext cx="4661" cy="936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>
              <p:custDataLst>
                <p:tags r:id="rId10"/>
              </p:custDataLst>
            </p:nvPr>
          </p:nvSpPr>
          <p:spPr>
            <a:xfrm>
              <a:off x="12904" y="2902"/>
              <a:ext cx="4229" cy="7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8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8路口代表口径</a:t>
              </a:r>
            </a:p>
          </p:txBody>
        </p:sp>
        <p:sp>
          <p:nvSpPr>
            <p:cNvPr id="12" name="TextBox 11"/>
            <p:cNvSpPr txBox="1"/>
            <p:nvPr>
              <p:custDataLst>
                <p:tags r:id="rId11"/>
              </p:custDataLst>
            </p:nvPr>
          </p:nvSpPr>
          <p:spPr>
            <a:xfrm>
              <a:off x="12904" y="3859"/>
              <a:ext cx="4142" cy="2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400" b="1">
                  <a:solidFill>
                    <a:srgbClr val="334155"/>
                  </a:solidFill>
                  <a:latin typeface="微软雅黑" panose="020B0503020204020204" charset="-122"/>
                </a:defRPr>
              </a:pPr>
              <a:r>
                <a:t>早高峰：reward +13.7%</a:t>
              </a:r>
            </a:p>
            <a:p>
              <a:pPr>
                <a:spcAft>
                  <a:spcPts val="600"/>
                </a:spcAft>
                <a:defRPr sz="1400" b="0">
                  <a:solidFill>
                    <a:srgbClr val="334155"/>
                  </a:solidFill>
                  <a:latin typeface="微软雅黑" panose="020B0503020204020204" charset="-122"/>
                </a:defRPr>
              </a:pPr>
              <a:r>
                <a:t>平峰：+5.4%（晚高峰模型泛化）</a:t>
              </a:r>
            </a:p>
            <a:p>
              <a:pPr>
                <a:spcAft>
                  <a:spcPts val="600"/>
                </a:spcAft>
                <a:defRPr sz="1400" b="1">
                  <a:solidFill>
                    <a:srgbClr val="334155"/>
                  </a:solidFill>
                  <a:latin typeface="微软雅黑" panose="020B0503020204020204" charset="-122"/>
                </a:defRPr>
              </a:pPr>
              <a:r>
                <a:t>晚高峰：reward +15.4%</a:t>
              </a:r>
            </a:p>
            <a:p>
              <a:pPr>
                <a:spcAft>
                  <a:spcPts val="600"/>
                </a:spcAft>
                <a:defRPr sz="1400" b="0">
                  <a:solidFill>
                    <a:srgbClr val="334155"/>
                  </a:solidFill>
                  <a:latin typeface="微软雅黑" panose="020B0503020204020204" charset="-122"/>
                </a:defRPr>
              </a:pPr>
              <a:r>
                <a:t>胜/8：早5 平6 晚5</a:t>
              </a:r>
            </a:p>
          </p:txBody>
        </p:sp>
        <p:sp>
          <p:nvSpPr>
            <p:cNvPr id="14" name="Rectangle 13"/>
            <p:cNvSpPr/>
            <p:nvPr>
              <p:custDataLst>
                <p:tags r:id="rId12"/>
              </p:custDataLst>
            </p:nvPr>
          </p:nvSpPr>
          <p:spPr>
            <a:xfrm>
              <a:off x="12644" y="6120"/>
              <a:ext cx="4661" cy="936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>
              <p:custDataLst>
                <p:tags r:id="rId13"/>
              </p:custDataLst>
            </p:nvPr>
          </p:nvSpPr>
          <p:spPr>
            <a:xfrm>
              <a:off x="12904" y="6221"/>
              <a:ext cx="4229" cy="7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8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30路口全量口径</a:t>
              </a:r>
            </a:p>
          </p:txBody>
        </p:sp>
        <p:sp>
          <p:nvSpPr>
            <p:cNvPr id="16" name="TextBox 15"/>
            <p:cNvSpPr txBox="1"/>
            <p:nvPr>
              <p:custDataLst>
                <p:tags r:id="rId14"/>
              </p:custDataLst>
            </p:nvPr>
          </p:nvSpPr>
          <p:spPr>
            <a:xfrm>
              <a:off x="12904" y="7092"/>
              <a:ext cx="4142" cy="2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400" b="1">
                  <a:solidFill>
                    <a:srgbClr val="334155"/>
                  </a:solidFill>
                  <a:latin typeface="微软雅黑" panose="020B0503020204020204" charset="-122"/>
                </a:defRPr>
              </a:pPr>
              <a:r>
                <a:t>早高峰：+11.0%（20/30胜）</a:t>
              </a:r>
            </a:p>
            <a:p>
              <a:pPr>
                <a:spcAft>
                  <a:spcPts val="600"/>
                </a:spcAft>
                <a:defRPr sz="1400" b="1">
                  <a:solidFill>
                    <a:srgbClr val="334155"/>
                  </a:solidFill>
                  <a:latin typeface="微软雅黑" panose="020B0503020204020204" charset="-122"/>
                </a:defRPr>
              </a:pPr>
              <a:r>
                <a:t>晚高峰：+9.9%（20/30胜）</a:t>
              </a:r>
            </a:p>
            <a:p>
              <a:pPr>
                <a:spcAft>
                  <a:spcPts val="600"/>
                </a:spcAft>
                <a:defRPr sz="1400" b="1">
                  <a:solidFill>
                    <a:srgbClr val="334155"/>
                  </a:solidFill>
                  <a:latin typeface="微软雅黑" panose="020B0503020204020204" charset="-122"/>
                </a:defRPr>
              </a:pPr>
              <a:r>
                <a:t>平峰：−1.6%（22/30胜）</a:t>
              </a:r>
            </a:p>
            <a:p>
              <a:pPr>
                <a:spcAft>
                  <a:spcPts val="600"/>
                </a:spcAft>
                <a:defRPr sz="1400" b="0">
                  <a:solidFill>
                    <a:srgbClr val="334155"/>
                  </a:solidFill>
                  <a:latin typeface="微软雅黑" panose="020B0503020204020204" charset="-122"/>
                </a:defRPr>
              </a:pPr>
              <a:r>
                <a:t>→ J16/J18低流量路口等待剧增</a:t>
              </a:r>
            </a:p>
            <a:p>
              <a:pPr>
                <a:spcAft>
                  <a:spcPts val="600"/>
                </a:spcAft>
                <a:defRPr sz="1400" b="0">
                  <a:solidFill>
                    <a:srgbClr val="334155"/>
                  </a:solidFill>
                  <a:latin typeface="微软雅黑" panose="020B0503020204020204" charset="-122"/>
                </a:defRPr>
              </a:pPr>
              <a:r>
                <a:t>根因：最小绿灯固定空转开销</a:t>
              </a:r>
            </a:p>
            <a:p>
              <a:pPr>
                <a:spcAft>
                  <a:spcPts val="600"/>
                </a:spcAft>
                <a:defRPr sz="1400" b="1">
                  <a:solidFill>
                    <a:srgbClr val="334155"/>
                  </a:solidFill>
                  <a:latin typeface="微软雅黑" panose="020B0503020204020204" charset="-122"/>
                </a:defRPr>
              </a:pPr>
              <a:r>
                <a:t>机制性弱点，重训无法解决</a:t>
              </a:r>
            </a:p>
          </p:txBody>
        </p:sp>
      </p:grpSp>
      <p:sp>
        <p:nvSpPr>
          <p:cNvPr id="17" name="Rectangle 16"/>
          <p:cNvSpPr/>
          <p:nvPr>
            <p:custDataLst>
              <p:tags r:id="rId15"/>
            </p:custDataLst>
          </p:nvPr>
        </p:nvSpPr>
        <p:spPr>
          <a:xfrm>
            <a:off x="2276856" y="6290945"/>
            <a:ext cx="9628632" cy="5303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6"/>
            </p:custDataLst>
          </p:nvPr>
        </p:nvSpPr>
        <p:spPr>
          <a:xfrm>
            <a:off x="2478024" y="6383782"/>
            <a:ext cx="9116567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如实呈现：平峰收益为负——DQN在低流量场景存在最小绿灯切换开销的机制性弱点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4" y="411479"/>
            <a:ext cx="301752" cy="3017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475488"/>
            <a:ext cx="301752" cy="3017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98064" y="374904"/>
            <a:ext cx="89336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微软雅黑" panose="020B0503020204020204" charset="-122"/>
              </a:defRPr>
            </a:pPr>
            <a:r>
              <a:t>3.5 工程目标达成情况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0864" y="877824"/>
            <a:ext cx="9244584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32304" y="1143000"/>
            <a:ext cx="9208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10项工程目标逐项核对，核心指标超额完成赛题要求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432304" y="1737360"/>
          <a:ext cx="920800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35"/>
                <a:gridCol w="1693426"/>
                <a:gridCol w="1905105"/>
                <a:gridCol w="3386853"/>
                <a:gridCol w="1587587"/>
              </a:tblGrid>
              <a:tr h="38238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工程目标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赛题要求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实测结果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路网规模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≥20路口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30路口6×5网格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超额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状态契约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标准化观测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660维全局+22维局部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决策约束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安全动作空间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4动作+需求门控掩码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模型体积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&lt; 1 MB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25.14 KB (FP32 ONNX)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远超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单路口推理延迟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&lt; 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 ms (mean)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远超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30路口批量延迟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&lt; 500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 ms (mean)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远超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动作退化率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≤5%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0%（真实状态100%一致）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三场景对比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同负荷对比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早/晚高峰 +11~15%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主体达标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演示闭环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仿真+推理+可视化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Unity-WS-SUMO-ONNX闭环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LLM云脑（赛道C）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事件识别+建议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f32 GGUF准确率100%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76856" y="6217920"/>
            <a:ext cx="9628632" cy="5303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6291072"/>
            <a:ext cx="9116567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核心指标超额完成：模型体积仅为目标的2.5%，推理延迟仅为目标的0.4%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1934948" y="1571624"/>
            <a:ext cx="10257052" cy="3581399"/>
          </a:xfrm>
          <a:prstGeom prst="rect">
            <a:avLst/>
          </a:prstGeom>
          <a:gradFill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pic>
        <p:nvPicPr>
          <p:cNvPr id="31" name="图片 10"/>
          <p:cNvPicPr>
            <a:picLocks noChangeAspect="1"/>
          </p:cNvPicPr>
          <p:nvPr/>
        </p:nvPicPr>
        <p:blipFill>
          <a:blip r:embed="rId1">
            <a:alphaModFix amt="34000"/>
          </a:blip>
          <a:stretch>
            <a:fillRect/>
          </a:stretch>
        </p:blipFill>
        <p:spPr>
          <a:xfrm>
            <a:off x="2987142" y="1571624"/>
            <a:ext cx="8416143" cy="3581401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1701489" y="5153024"/>
            <a:ext cx="10665512" cy="144780"/>
          </a:xfrm>
          <a:prstGeom prst="rect">
            <a:avLst/>
          </a:prstGeom>
          <a:gradFill>
            <a:gsLst>
              <a:gs pos="59000">
                <a:schemeClr val="accent1">
                  <a:alpha val="40000"/>
                </a:schemeClr>
              </a:gs>
              <a:gs pos="97203">
                <a:schemeClr val="accent1">
                  <a:alpha val="0"/>
                </a:schemeClr>
              </a:gs>
              <a:gs pos="1000">
                <a:schemeClr val="accent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6203427" y="4394505"/>
            <a:ext cx="2788958" cy="0"/>
          </a:xfrm>
          <a:prstGeom prst="line">
            <a:avLst/>
          </a:prstGeom>
          <a:ln w="3429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7495390" y="4394505"/>
            <a:ext cx="528550" cy="0"/>
          </a:xfrm>
          <a:prstGeom prst="line">
            <a:avLst/>
          </a:prstGeom>
          <a:ln w="5143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4" name="文本框 4"/>
          <p:cNvSpPr>
            <a:spLocks noGrp="1"/>
          </p:cNvSpPr>
          <p:nvPr/>
        </p:nvSpPr>
        <p:spPr>
          <a:xfrm>
            <a:off x="2622735" y="2926287"/>
            <a:ext cx="96567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8000" b="1">
                <a:gradFill>
                  <a:gsLst>
                    <a:gs pos="11000">
                      <a:schemeClr val="accent2"/>
                    </a:gs>
                    <a:gs pos="82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  <a:latin typeface="阿里妈妈方圆体 VF SemiBold"/>
                <a:ea typeface="阿里妈妈方圆体 VF SemiBold"/>
                <a:cs typeface="阿里妈妈方圆体 VF SemiBold"/>
              </a:defRPr>
            </a:lvl1pPr>
          </a:lstStyle>
          <a:p>
            <a:pPr algn="ctr">
              <a:buNone/>
            </a:pPr>
            <a:r>
              <a:rPr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应用价值与展望</a:t>
            </a:r>
            <a:endParaRPr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6652950" y="1994804"/>
            <a:ext cx="821047" cy="821047"/>
          </a:xfrm>
          <a:prstGeom prst="ellipse">
            <a:avLst/>
          </a:prstGeom>
          <a:gradFill>
            <a:gsLst>
              <a:gs pos="18000">
                <a:schemeClr val="bg1"/>
              </a:gs>
              <a:gs pos="81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8" name="文本框 29"/>
          <p:cNvSpPr>
            <a:spLocks noGrp="1"/>
          </p:cNvSpPr>
          <p:nvPr/>
        </p:nvSpPr>
        <p:spPr>
          <a:xfrm>
            <a:off x="6453739" y="2114478"/>
            <a:ext cx="1219468" cy="58169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pPr algn="ctr">
              <a:buNone/>
            </a:pPr>
            <a:r>
              <a:rPr sz="324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0</a:t>
            </a:r>
            <a:r>
              <a:rPr sz="324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4</a:t>
            </a:r>
            <a:endParaRPr sz="3240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2371488" y="1030044"/>
            <a:ext cx="5104578" cy="476475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1450" tIns="152400" rIns="171450" bIns="114300" anchor="t">
            <a:noAutofit/>
          </a:bodyPr>
          <a:lstStyle/>
          <a:p>
            <a:pPr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算法与平台</a:t>
            </a:r>
            <a:endParaRPr sz="28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共享掩码 DQN，适配异构路口结构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。</a:t>
            </a: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统一状态 — 动作契约，支撑 30 路口批量决策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。</a:t>
            </a: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SUMO 仿真 + Unity 展示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，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覆盖三时段场景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。</a:t>
            </a: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603646" y="1029680"/>
            <a:ext cx="4368392" cy="476513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1450" tIns="152400" rIns="171450" bIns="114300" anchor="t">
            <a:noAutofit/>
          </a:bodyPr>
          <a:lstStyle/>
          <a:p>
            <a:pPr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部署与云脑</a:t>
            </a:r>
            <a:endParaRPr sz="28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algn="ctr">
              <a:buNone/>
            </a:pP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FP32 ONNX 边缘模型，动作一致性保真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。</a:t>
            </a: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Docker 容器化，运行环境一键复现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。</a:t>
            </a: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LLM 云脑：慢周期事件识别与中文建议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。</a:t>
            </a: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文本框 76"/>
          <p:cNvSpPr>
            <a:spLocks noGrp="1"/>
          </p:cNvSpPr>
          <p:nvPr/>
        </p:nvSpPr>
        <p:spPr>
          <a:xfrm>
            <a:off x="2773086" y="374000"/>
            <a:ext cx="8371171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4.1 项目成果：完成全链条原型闭环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: 剪去对角 4"/>
          <p:cNvSpPr>
            <a:spLocks noGrp="1"/>
          </p:cNvSpPr>
          <p:nvPr/>
        </p:nvSpPr>
        <p:spPr>
          <a:xfrm>
            <a:off x="2351087" y="5978324"/>
            <a:ext cx="9324975" cy="689182"/>
          </a:xfrm>
          <a:prstGeom prst="snip2Diag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573327" y="6092894"/>
            <a:ext cx="8887317" cy="391106"/>
          </a:xfrm>
          <a:prstGeom prst="rect">
            <a:avLst/>
          </a:prstGeom>
          <a:noFill/>
        </p:spPr>
        <p:txBody>
          <a:bodyPr wrap="square" lIns="82525" tIns="41262" rIns="82525" bIns="41262" anchor="ctr">
            <a:spAutoFit/>
          </a:bodyPr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项目已贯通“场景构建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—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策略决策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—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安全执行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—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部署验证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—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三维展示”全流程</a:t>
            </a:r>
            <a:endParaRPr sz="20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pic>
        <p:nvPicPr>
          <p:cNvPr id="11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267" y="3578694"/>
            <a:ext cx="3638347" cy="20476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8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616" y="4175813"/>
            <a:ext cx="2916641" cy="8559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76"/>
          <p:cNvSpPr>
            <a:spLocks noGrp="1"/>
          </p:cNvSpPr>
          <p:nvPr/>
        </p:nvSpPr>
        <p:spPr>
          <a:xfrm>
            <a:off x="2773045" y="374015"/>
            <a:ext cx="9288145" cy="504190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4.1 关键结果：效果、保真与时延同时验收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4" name="箭头: 五边形 13"/>
          <p:cNvSpPr>
            <a:spLocks noGrp="1"/>
          </p:cNvSpPr>
          <p:nvPr/>
        </p:nvSpPr>
        <p:spPr>
          <a:xfrm>
            <a:off x="2422291" y="2079500"/>
            <a:ext cx="3102052" cy="598767"/>
          </a:xfrm>
          <a:prstGeom prst="homePlate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箭头: V 形 15"/>
          <p:cNvSpPr>
            <a:spLocks noGrp="1"/>
          </p:cNvSpPr>
          <p:nvPr/>
        </p:nvSpPr>
        <p:spPr>
          <a:xfrm>
            <a:off x="5524343" y="2079500"/>
            <a:ext cx="3102052" cy="598767"/>
          </a:xfrm>
          <a:prstGeom prst="chevron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8" name="任意多边形: 形状 17"/>
          <p:cNvSpPr>
            <a:spLocks noGrp="1"/>
          </p:cNvSpPr>
          <p:nvPr/>
        </p:nvSpPr>
        <p:spPr>
          <a:xfrm>
            <a:off x="8626394" y="2079500"/>
            <a:ext cx="2787442" cy="598767"/>
          </a:xfrm>
          <a:custGeom>
            <a:avLst/>
            <a:gdLst>
              <a:gd name="connsiteX0" fmla="*/ 0 w 2787442"/>
              <a:gd name="connsiteY0" fmla="*/ 0 h 598767"/>
              <a:gd name="connsiteX1" fmla="*/ 468729 w 2787442"/>
              <a:gd name="connsiteY1" fmla="*/ 0 h 598767"/>
              <a:gd name="connsiteX2" fmla="*/ 2466589 w 2787442"/>
              <a:gd name="connsiteY2" fmla="*/ 0 h 598767"/>
              <a:gd name="connsiteX3" fmla="*/ 2787442 w 2787442"/>
              <a:gd name="connsiteY3" fmla="*/ 0 h 598767"/>
              <a:gd name="connsiteX4" fmla="*/ 2787442 w 2787442"/>
              <a:gd name="connsiteY4" fmla="*/ 299384 h 598767"/>
              <a:gd name="connsiteX5" fmla="*/ 2787442 w 2787442"/>
              <a:gd name="connsiteY5" fmla="*/ 598767 h 598767"/>
              <a:gd name="connsiteX6" fmla="*/ 2466589 w 2787442"/>
              <a:gd name="connsiteY6" fmla="*/ 598767 h 598767"/>
              <a:gd name="connsiteX7" fmla="*/ 468729 w 2787442"/>
              <a:gd name="connsiteY7" fmla="*/ 598767 h 598767"/>
              <a:gd name="connsiteX8" fmla="*/ 0 w 2787442"/>
              <a:gd name="connsiteY8" fmla="*/ 598767 h 598767"/>
              <a:gd name="connsiteX9" fmla="*/ 299384 w 2787442"/>
              <a:gd name="connsiteY9" fmla="*/ 299384 h 598767"/>
            </a:gdLst>
            <a:ahLst/>
            <a:cxnLst/>
            <a:rect l="l" t="t" r="r" b="b"/>
            <a:pathLst>
              <a:path w="2787442" h="598767">
                <a:moveTo>
                  <a:pt x="0" y="0"/>
                </a:moveTo>
                <a:lnTo>
                  <a:pt x="468729" y="0"/>
                </a:lnTo>
                <a:lnTo>
                  <a:pt x="2466589" y="0"/>
                </a:lnTo>
                <a:lnTo>
                  <a:pt x="2787442" y="0"/>
                </a:lnTo>
                <a:lnTo>
                  <a:pt x="2787442" y="299384"/>
                </a:lnTo>
                <a:lnTo>
                  <a:pt x="2787442" y="598767"/>
                </a:lnTo>
                <a:lnTo>
                  <a:pt x="2466589" y="598767"/>
                </a:lnTo>
                <a:lnTo>
                  <a:pt x="468729" y="598767"/>
                </a:lnTo>
                <a:lnTo>
                  <a:pt x="0" y="598767"/>
                </a:lnTo>
                <a:lnTo>
                  <a:pt x="299384" y="299384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20" name="矩形:"/>
          <p:cNvSpPr>
            <a:spLocks noGrp="1"/>
          </p:cNvSpPr>
          <p:nvPr/>
        </p:nvSpPr>
        <p:spPr>
          <a:xfrm>
            <a:off x="2422290" y="2975984"/>
            <a:ext cx="2765973" cy="2351824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2" name="矩形:"/>
          <p:cNvSpPr>
            <a:spLocks noGrp="1"/>
          </p:cNvSpPr>
          <p:nvPr/>
        </p:nvSpPr>
        <p:spPr>
          <a:xfrm>
            <a:off x="2428887" y="6087743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4" name="矩形:"/>
          <p:cNvSpPr>
            <a:spLocks noGrp="1"/>
          </p:cNvSpPr>
          <p:nvPr/>
        </p:nvSpPr>
        <p:spPr>
          <a:xfrm>
            <a:off x="5491554" y="2975985"/>
            <a:ext cx="2765973" cy="2351824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6" name="矩形:"/>
          <p:cNvSpPr>
            <a:spLocks noGrp="1"/>
          </p:cNvSpPr>
          <p:nvPr/>
        </p:nvSpPr>
        <p:spPr>
          <a:xfrm>
            <a:off x="8655450" y="2975984"/>
            <a:ext cx="2795029" cy="2351824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8" name="文本框 12"/>
          <p:cNvSpPr>
            <a:spLocks noGrp="1"/>
          </p:cNvSpPr>
          <p:nvPr/>
        </p:nvSpPr>
        <p:spPr>
          <a:xfrm>
            <a:off x="2561561" y="2178828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>
                <a:solidFill>
                  <a:schemeClr val="bg1"/>
                </a:solidFill>
                <a:latin typeface="思源宋体 CN Heavy"/>
                <a:ea typeface="思源宋体 CN Heavy"/>
                <a:cs typeface="思源宋体 CN Heavy"/>
              </a:rPr>
              <a:t>控制效果</a:t>
            </a:r>
            <a:endParaRPr sz="2000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1" name="文本框 13"/>
          <p:cNvSpPr>
            <a:spLocks noGrp="1"/>
          </p:cNvSpPr>
          <p:nvPr/>
        </p:nvSpPr>
        <p:spPr>
          <a:xfrm>
            <a:off x="5851823" y="2178828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>
                <a:solidFill>
                  <a:schemeClr val="bg1"/>
                </a:solidFill>
                <a:latin typeface="思源宋体 CN Heavy"/>
                <a:ea typeface="思源宋体 CN Heavy"/>
                <a:cs typeface="思源宋体 CN Heavy"/>
              </a:rPr>
              <a:t>边缘部署</a:t>
            </a:r>
            <a:endParaRPr sz="2000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3" name="文本框 15"/>
          <p:cNvSpPr>
            <a:spLocks noGrp="1"/>
          </p:cNvSpPr>
          <p:nvPr/>
        </p:nvSpPr>
        <p:spPr>
          <a:xfrm>
            <a:off x="2611086" y="3105156"/>
            <a:ext cx="2401574" cy="2019399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>
              <a:buNone/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路口平均收益：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早高峰 +11.0% 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晚高峰 +9.9%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平峰 −1.6%（低流量路口存在最小绿灯切换开销）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16"/>
          <p:cNvSpPr>
            <a:spLocks noGrp="1"/>
          </p:cNvSpPr>
          <p:nvPr/>
        </p:nvSpPr>
        <p:spPr>
          <a:xfrm>
            <a:off x="5660827" y="3139937"/>
            <a:ext cx="2427426" cy="2062488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模型仅 25 KB，真实路况下动作一致率 100%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单路口推理约 0.02 ms，满足秒级控制周期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:"/>
          <p:cNvSpPr>
            <a:spLocks noGrp="1"/>
          </p:cNvSpPr>
          <p:nvPr/>
        </p:nvSpPr>
        <p:spPr>
          <a:xfrm>
            <a:off x="2395632" y="1119685"/>
            <a:ext cx="7949847" cy="571520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1" name="矩形:"/>
          <p:cNvSpPr>
            <a:spLocks noGrp="1"/>
          </p:cNvSpPr>
          <p:nvPr/>
        </p:nvSpPr>
        <p:spPr>
          <a:xfrm>
            <a:off x="2395632" y="1119685"/>
            <a:ext cx="556173" cy="558230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3" name="文本框 29"/>
          <p:cNvSpPr>
            <a:spLocks noGrp="1"/>
          </p:cNvSpPr>
          <p:nvPr/>
        </p:nvSpPr>
        <p:spPr>
          <a:xfrm>
            <a:off x="2851297" y="1105999"/>
            <a:ext cx="8152659" cy="558230"/>
          </a:xfrm>
          <a:prstGeom prst="rect">
            <a:avLst/>
          </a:prstGeom>
          <a:noFill/>
        </p:spPr>
        <p:txBody>
          <a:bodyPr wrap="square" lIns="171450" tIns="152400" rIns="171450" bIns="1143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均来自报告中的同口径对照；平峰负值与压缩失败也如实保留</a:t>
            </a: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53"/>
          <p:cNvSpPr>
            <a:spLocks noGrp="1"/>
          </p:cNvSpPr>
          <p:nvPr/>
        </p:nvSpPr>
        <p:spPr>
          <a:xfrm>
            <a:off x="8945515" y="2174938"/>
            <a:ext cx="21336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>
                <a:solidFill>
                  <a:schemeClr val="bg1"/>
                </a:solidFill>
                <a:latin typeface="思源宋体 CN Heavy"/>
                <a:ea typeface="思源宋体 CN Heavy"/>
                <a:cs typeface="思源宋体 CN Heavy"/>
              </a:rPr>
              <a:t>云脑支持</a:t>
            </a:r>
            <a:endParaRPr sz="2000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53" name="文本框 17"/>
          <p:cNvSpPr>
            <a:spLocks noGrp="1"/>
          </p:cNvSpPr>
          <p:nvPr/>
        </p:nvSpPr>
        <p:spPr>
          <a:xfrm>
            <a:off x="8879079" y="3160931"/>
            <a:ext cx="2318713" cy="1742400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事件识别准确率 99.5%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云端慢周期分析，实时控制仍由边缘 DQN 承担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:"/>
          <p:cNvSpPr>
            <a:spLocks noGrp="1"/>
          </p:cNvSpPr>
          <p:nvPr/>
        </p:nvSpPr>
        <p:spPr>
          <a:xfrm>
            <a:off x="5517745" y="6067823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7" name="矩形:"/>
          <p:cNvSpPr>
            <a:spLocks noGrp="1"/>
          </p:cNvSpPr>
          <p:nvPr/>
        </p:nvSpPr>
        <p:spPr>
          <a:xfrm>
            <a:off x="8655450" y="6058806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文本框 63"/>
          <p:cNvSpPr>
            <a:spLocks noGrp="1"/>
          </p:cNvSpPr>
          <p:nvPr/>
        </p:nvSpPr>
        <p:spPr>
          <a:xfrm>
            <a:off x="3348819" y="2735824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67" name="文本框 63"/>
          <p:cNvSpPr>
            <a:spLocks noGrp="1"/>
          </p:cNvSpPr>
          <p:nvPr/>
        </p:nvSpPr>
        <p:spPr>
          <a:xfrm>
            <a:off x="3501219" y="2888224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69" name="矩形:"/>
          <p:cNvSpPr>
            <a:spLocks noGrp="1"/>
          </p:cNvSpPr>
          <p:nvPr/>
        </p:nvSpPr>
        <p:spPr>
          <a:xfrm>
            <a:off x="2364796" y="5948436"/>
            <a:ext cx="9474886" cy="379512"/>
          </a:xfrm>
          <a:prstGeom prst="snip2DiagRect">
            <a:avLst>
              <a:gd name="adj1" fmla="val 0"/>
              <a:gd name="adj2" fmla="val 26504"/>
            </a:avLst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核心发现：INT8 / 剪枝候选未达到正式部署门槛——轻量化必须逐任务实测</a:t>
            </a:r>
            <a:endParaRPr b="1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2300388" y="1485713"/>
            <a:ext cx="5551737" cy="1459889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77" name="文本框 76"/>
          <p:cNvSpPr>
            <a:spLocks noGrp="1"/>
          </p:cNvSpPr>
          <p:nvPr/>
        </p:nvSpPr>
        <p:spPr>
          <a:xfrm>
            <a:off x="2773086" y="374000"/>
            <a:ext cx="8371171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4.2 局限性：从原型可用走向真实可信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0" name="任意多边形: 形状 39"/>
          <p:cNvSpPr>
            <a:spLocks noGrp="1"/>
          </p:cNvSpPr>
          <p:nvPr/>
        </p:nvSpPr>
        <p:spPr>
          <a:xfrm>
            <a:off x="2353682" y="4350807"/>
            <a:ext cx="2394533" cy="2523805"/>
          </a:xfrm>
          <a:custGeom>
            <a:avLst/>
            <a:gdLst>
              <a:gd name="connsiteX0" fmla="*/ 0 w 2394533"/>
              <a:gd name="connsiteY0" fmla="*/ 0 h 3081760"/>
              <a:gd name="connsiteX1" fmla="*/ 2394533 w 2394533"/>
              <a:gd name="connsiteY1" fmla="*/ 0 h 3081760"/>
              <a:gd name="connsiteX2" fmla="*/ 2394533 w 2394533"/>
              <a:gd name="connsiteY2" fmla="*/ 3081760 h 3081760"/>
              <a:gd name="connsiteX3" fmla="*/ 0 w 2394533"/>
              <a:gd name="connsiteY3" fmla="*/ 3081760 h 3081760"/>
            </a:gdLst>
            <a:ahLst/>
            <a:cxnLst/>
            <a:rect l="l" t="t" r="r" b="b"/>
            <a:pathLst>
              <a:path w="2394533" h="3081760">
                <a:moveTo>
                  <a:pt x="0" y="0"/>
                </a:moveTo>
                <a:lnTo>
                  <a:pt x="2394533" y="0"/>
                </a:lnTo>
                <a:lnTo>
                  <a:pt x="2394533" y="3081760"/>
                </a:lnTo>
                <a:lnTo>
                  <a:pt x="0" y="308176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2" name="任意多边形: 形状 41"/>
          <p:cNvSpPr>
            <a:spLocks noGrp="1"/>
          </p:cNvSpPr>
          <p:nvPr/>
        </p:nvSpPr>
        <p:spPr>
          <a:xfrm>
            <a:off x="2353681" y="4350807"/>
            <a:ext cx="2394533" cy="127321"/>
          </a:xfrm>
          <a:custGeom>
            <a:avLst/>
            <a:gdLst>
              <a:gd name="connsiteX0" fmla="*/ 0 w 2394533"/>
              <a:gd name="connsiteY0" fmla="*/ 0 h 127321"/>
              <a:gd name="connsiteX1" fmla="*/ 2394533 w 2394533"/>
              <a:gd name="connsiteY1" fmla="*/ 0 h 127321"/>
              <a:gd name="connsiteX2" fmla="*/ 2394533 w 2394533"/>
              <a:gd name="connsiteY2" fmla="*/ 127321 h 127321"/>
              <a:gd name="connsiteX3" fmla="*/ 0 w 2394533"/>
              <a:gd name="connsiteY3" fmla="*/ 127321 h 127321"/>
            </a:gdLst>
            <a:ahLst/>
            <a:cxnLst/>
            <a:rect l="l" t="t" r="r" b="b"/>
            <a:pathLst>
              <a:path w="2394533" h="127321">
                <a:moveTo>
                  <a:pt x="0" y="0"/>
                </a:moveTo>
                <a:lnTo>
                  <a:pt x="2394533" y="0"/>
                </a:lnTo>
                <a:lnTo>
                  <a:pt x="2394533" y="127321"/>
                </a:lnTo>
                <a:lnTo>
                  <a:pt x="0" y="127321"/>
                </a:lnTo>
                <a:close/>
              </a:path>
            </a:pathLst>
          </a:custGeom>
          <a:gradFill>
            <a:gsLst>
              <a:gs pos="18000">
                <a:schemeClr val="accent1">
                  <a:lumMod val="90000"/>
                  <a:lumOff val="10000"/>
                  <a:alpha val="40000"/>
                </a:schemeClr>
              </a:gs>
              <a:gs pos="81000">
                <a:schemeClr val="accent1">
                  <a:alpha val="2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2424885" y="4626984"/>
            <a:ext cx="2244941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低流量切换开销</a:t>
            </a:r>
            <a:endParaRPr sz="2000" b="1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2490597" y="5061905"/>
            <a:ext cx="2126561" cy="948721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/>
          <a:p>
            <a:pPr>
              <a:buNone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平峰收益 −1.6%，源于低流量路口最小绿灯的固定空转，需调整环境机制后重训。</a:t>
            </a:r>
            <a:endParaRPr sz="14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48" name="任意多边形: 形状 47"/>
          <p:cNvSpPr>
            <a:spLocks noGrp="1"/>
          </p:cNvSpPr>
          <p:nvPr/>
        </p:nvSpPr>
        <p:spPr>
          <a:xfrm>
            <a:off x="5457592" y="3600553"/>
            <a:ext cx="2394533" cy="3257448"/>
          </a:xfrm>
          <a:custGeom>
            <a:avLst/>
            <a:gdLst>
              <a:gd name="connsiteX0" fmla="*/ 0 w 2394533"/>
              <a:gd name="connsiteY0" fmla="*/ 0 h 3939803"/>
              <a:gd name="connsiteX1" fmla="*/ 2394533 w 2394533"/>
              <a:gd name="connsiteY1" fmla="*/ 0 h 3939803"/>
              <a:gd name="connsiteX2" fmla="*/ 2394533 w 2394533"/>
              <a:gd name="connsiteY2" fmla="*/ 3939803 h 3939803"/>
              <a:gd name="connsiteX3" fmla="*/ 0 w 2394533"/>
              <a:gd name="connsiteY3" fmla="*/ 3939803 h 3939803"/>
            </a:gdLst>
            <a:ahLst/>
            <a:cxnLst/>
            <a:rect l="l" t="t" r="r" b="b"/>
            <a:pathLst>
              <a:path w="2394533" h="3939803">
                <a:moveTo>
                  <a:pt x="0" y="0"/>
                </a:moveTo>
                <a:lnTo>
                  <a:pt x="2394533" y="0"/>
                </a:lnTo>
                <a:lnTo>
                  <a:pt x="2394533" y="3939803"/>
                </a:lnTo>
                <a:lnTo>
                  <a:pt x="0" y="3939803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2" name="任意多边形: 形状 21"/>
          <p:cNvSpPr>
            <a:spLocks noGrp="1"/>
          </p:cNvSpPr>
          <p:nvPr/>
        </p:nvSpPr>
        <p:spPr>
          <a:xfrm>
            <a:off x="5457592" y="3600553"/>
            <a:ext cx="2394533" cy="114003"/>
          </a:xfrm>
          <a:custGeom>
            <a:avLst/>
            <a:gdLst>
              <a:gd name="connsiteX0" fmla="*/ 0 w 2394533"/>
              <a:gd name="connsiteY0" fmla="*/ 0 h 4404167"/>
              <a:gd name="connsiteX1" fmla="*/ 2394533 w 2394533"/>
              <a:gd name="connsiteY1" fmla="*/ 0 h 4404167"/>
              <a:gd name="connsiteX2" fmla="*/ 2394533 w 2394533"/>
              <a:gd name="connsiteY2" fmla="*/ 4404167 h 4404167"/>
              <a:gd name="connsiteX3" fmla="*/ 0 w 2394533"/>
              <a:gd name="connsiteY3" fmla="*/ 4404167 h 4404167"/>
            </a:gdLst>
            <a:ahLst/>
            <a:cxnLst/>
            <a:rect l="l" t="t" r="r" b="b"/>
            <a:pathLst>
              <a:path w="2394533" h="4404167">
                <a:moveTo>
                  <a:pt x="0" y="0"/>
                </a:moveTo>
                <a:lnTo>
                  <a:pt x="2394533" y="0"/>
                </a:lnTo>
                <a:lnTo>
                  <a:pt x="2394533" y="4404167"/>
                </a:lnTo>
                <a:lnTo>
                  <a:pt x="0" y="4404167"/>
                </a:lnTo>
                <a:close/>
              </a:path>
            </a:pathLst>
          </a:custGeom>
          <a:gradFill>
            <a:gsLst>
              <a:gs pos="18000">
                <a:schemeClr val="accent1">
                  <a:lumMod val="90000"/>
                  <a:lumOff val="10000"/>
                  <a:alpha val="40000"/>
                </a:schemeClr>
              </a:gs>
              <a:gs pos="81000">
                <a:schemeClr val="accent1">
                  <a:alpha val="2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91577" y="3860787"/>
            <a:ext cx="2126561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评价证据待补齐</a:t>
            </a:r>
            <a:endParaRPr sz="165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591577" y="4363942"/>
            <a:ext cx="2126561" cy="948721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/>
          <a:p>
            <a:pPr>
              <a:buNone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需补充多随机种子、策略横向对照、置信区间及安全指标（冲突、碰撞、急减速），增强结论稳健性。</a:t>
            </a:r>
            <a:endParaRPr sz="1260">
              <a:solidFill>
                <a:srgbClr val="334155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0" name="任意多边形: 形状 49"/>
          <p:cNvSpPr>
            <a:spLocks noGrp="1"/>
          </p:cNvSpPr>
          <p:nvPr/>
        </p:nvSpPr>
        <p:spPr>
          <a:xfrm>
            <a:off x="8558908" y="1617780"/>
            <a:ext cx="2394533" cy="4105904"/>
          </a:xfrm>
          <a:custGeom>
            <a:avLst/>
            <a:gdLst>
              <a:gd name="connsiteX0" fmla="*/ 0 w 2394533"/>
              <a:gd name="connsiteY0" fmla="*/ 0 h 4780095"/>
              <a:gd name="connsiteX1" fmla="*/ 2394533 w 2394533"/>
              <a:gd name="connsiteY1" fmla="*/ 0 h 4780095"/>
              <a:gd name="connsiteX2" fmla="*/ 2394533 w 2394533"/>
              <a:gd name="connsiteY2" fmla="*/ 4780095 h 4780095"/>
              <a:gd name="connsiteX3" fmla="*/ 0 w 2394533"/>
              <a:gd name="connsiteY3" fmla="*/ 4780095 h 4780095"/>
            </a:gdLst>
            <a:ahLst/>
            <a:cxnLst/>
            <a:rect l="l" t="t" r="r" b="b"/>
            <a:pathLst>
              <a:path w="2394533" h="4780095">
                <a:moveTo>
                  <a:pt x="0" y="0"/>
                </a:moveTo>
                <a:lnTo>
                  <a:pt x="2394533" y="0"/>
                </a:lnTo>
                <a:lnTo>
                  <a:pt x="2394533" y="4780095"/>
                </a:lnTo>
                <a:lnTo>
                  <a:pt x="0" y="4780095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777631" y="2366325"/>
            <a:ext cx="2126561" cy="1034899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/>
          <a:p>
            <a:r>
              <a:rPr sz="1400"/>
              <a:t>仿真结论尚不能替代道路实测；需引入 V2X 通信时延、路侧设备差异与真实交通流样本复验。</a:t>
            </a:r>
            <a:endParaRPr sz="1400"/>
          </a:p>
        </p:txBody>
      </p:sp>
      <p:sp>
        <p:nvSpPr>
          <p:cNvPr id="36" name="任意多边形: 形状 35"/>
          <p:cNvSpPr>
            <a:spLocks noGrp="1"/>
          </p:cNvSpPr>
          <p:nvPr/>
        </p:nvSpPr>
        <p:spPr>
          <a:xfrm rot="18201198" flipV="1">
            <a:off x="6532056" y="3647467"/>
            <a:ext cx="5302008" cy="4425406"/>
          </a:xfrm>
          <a:custGeom>
            <a:avLst/>
            <a:gdLst>
              <a:gd name="connsiteX0" fmla="*/ 5302008 w 5302008"/>
              <a:gd name="connsiteY0" fmla="*/ 1277890 h 4425406"/>
              <a:gd name="connsiteX1" fmla="*/ 3450021 w 5302008"/>
              <a:gd name="connsiteY1" fmla="*/ 0 h 4425406"/>
              <a:gd name="connsiteX2" fmla="*/ 3523251 w 5302008"/>
              <a:gd name="connsiteY2" fmla="*/ 798681 h 4425406"/>
              <a:gd name="connsiteX3" fmla="*/ 2130324 w 5302008"/>
              <a:gd name="connsiteY3" fmla="*/ 1460284 h 4425406"/>
              <a:gd name="connsiteX4" fmla="*/ 1819691 w 5302008"/>
              <a:gd name="connsiteY4" fmla="*/ 1660799 h 4425406"/>
              <a:gd name="connsiteX5" fmla="*/ 0 w 5302008"/>
              <a:gd name="connsiteY5" fmla="*/ 4425406 h 4425406"/>
              <a:gd name="connsiteX6" fmla="*/ 42611 w 5302008"/>
              <a:gd name="connsiteY6" fmla="*/ 4375307 h 4425406"/>
              <a:gd name="connsiteX7" fmla="*/ 3669712 w 5302008"/>
              <a:gd name="connsiteY7" fmla="*/ 2396044 h 4425406"/>
              <a:gd name="connsiteX8" fmla="*/ 3742943 w 5302008"/>
              <a:gd name="connsiteY8" fmla="*/ 3194725 h 4425406"/>
            </a:gdLst>
            <a:ahLst/>
            <a:cxnLst/>
            <a:rect l="l" t="t" r="r" b="b"/>
            <a:pathLst>
              <a:path w="5302008" h="4425406">
                <a:moveTo>
                  <a:pt x="5302008" y="1277890"/>
                </a:moveTo>
                <a:lnTo>
                  <a:pt x="3450021" y="0"/>
                </a:lnTo>
                <a:lnTo>
                  <a:pt x="3523251" y="798681"/>
                </a:lnTo>
                <a:cubicBezTo>
                  <a:pt x="3023207" y="978938"/>
                  <a:pt x="2558897" y="1199473"/>
                  <a:pt x="2130324" y="1460284"/>
                </a:cubicBezTo>
                <a:lnTo>
                  <a:pt x="1819691" y="1660799"/>
                </a:lnTo>
                <a:lnTo>
                  <a:pt x="0" y="4425406"/>
                </a:lnTo>
                <a:lnTo>
                  <a:pt x="42611" y="4375307"/>
                </a:lnTo>
                <a:cubicBezTo>
                  <a:pt x="1011873" y="3290134"/>
                  <a:pt x="2220907" y="2630379"/>
                  <a:pt x="3669712" y="2396044"/>
                </a:cubicBezTo>
                <a:lnTo>
                  <a:pt x="3742943" y="3194725"/>
                </a:lnTo>
                <a:close/>
              </a:path>
            </a:pathLst>
          </a:cu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8" name="任意多边形: 形状 37"/>
          <p:cNvSpPr>
            <a:spLocks noGrp="1"/>
          </p:cNvSpPr>
          <p:nvPr/>
        </p:nvSpPr>
        <p:spPr>
          <a:xfrm rot="18201198" flipV="1">
            <a:off x="7167806" y="3909560"/>
            <a:ext cx="4962573" cy="4045121"/>
          </a:xfrm>
          <a:custGeom>
            <a:avLst/>
            <a:gdLst>
              <a:gd name="connsiteX0" fmla="*/ 4962573 w 4962573"/>
              <a:gd name="connsiteY0" fmla="*/ 1503141 h 4045121"/>
              <a:gd name="connsiteX1" fmla="*/ 4941994 w 4962573"/>
              <a:gd name="connsiteY1" fmla="*/ 1277890 h 4045121"/>
              <a:gd name="connsiteX2" fmla="*/ 3090007 w 4962573"/>
              <a:gd name="connsiteY2" fmla="*/ 0 h 4045121"/>
              <a:gd name="connsiteX3" fmla="*/ 3163238 w 4962573"/>
              <a:gd name="connsiteY3" fmla="*/ 798681 h 4045121"/>
              <a:gd name="connsiteX4" fmla="*/ 1932700 w 4962573"/>
              <a:gd name="connsiteY4" fmla="*/ 1364368 h 4045121"/>
              <a:gd name="connsiteX5" fmla="*/ 1653485 w 4962573"/>
              <a:gd name="connsiteY5" fmla="*/ 1533026 h 4045121"/>
              <a:gd name="connsiteX6" fmla="*/ 0 w 4962573"/>
              <a:gd name="connsiteY6" fmla="*/ 4045121 h 4045121"/>
              <a:gd name="connsiteX7" fmla="*/ 57310 w 4962573"/>
              <a:gd name="connsiteY7" fmla="*/ 3988309 h 4045121"/>
              <a:gd name="connsiteX8" fmla="*/ 3309699 w 4962573"/>
              <a:gd name="connsiteY8" fmla="*/ 2396044 h 4045121"/>
              <a:gd name="connsiteX9" fmla="*/ 3430113 w 4962573"/>
              <a:gd name="connsiteY9" fmla="*/ 3161140 h 4045121"/>
            </a:gdLst>
            <a:ahLst/>
            <a:cxnLst/>
            <a:rect l="l" t="t" r="r" b="b"/>
            <a:pathLst>
              <a:path w="4962573" h="4045121">
                <a:moveTo>
                  <a:pt x="4962573" y="1503141"/>
                </a:moveTo>
                <a:lnTo>
                  <a:pt x="4941994" y="1277890"/>
                </a:lnTo>
                <a:lnTo>
                  <a:pt x="3090007" y="0"/>
                </a:lnTo>
                <a:lnTo>
                  <a:pt x="3163238" y="798681"/>
                </a:lnTo>
                <a:cubicBezTo>
                  <a:pt x="2725698" y="956407"/>
                  <a:pt x="2315519" y="1144969"/>
                  <a:pt x="1932700" y="1364368"/>
                </a:cubicBezTo>
                <a:lnTo>
                  <a:pt x="1653485" y="1533026"/>
                </a:lnTo>
                <a:lnTo>
                  <a:pt x="0" y="4045121"/>
                </a:lnTo>
                <a:lnTo>
                  <a:pt x="57310" y="3988309"/>
                </a:lnTo>
                <a:cubicBezTo>
                  <a:pt x="957864" y="3131842"/>
                  <a:pt x="2041994" y="2601087"/>
                  <a:pt x="3309699" y="2396044"/>
                </a:cubicBezTo>
                <a:lnTo>
                  <a:pt x="3430113" y="3161140"/>
                </a:lnTo>
                <a:close/>
              </a:path>
            </a:pathLst>
          </a:custGeom>
          <a:gradFill>
            <a:gsLst>
              <a:gs pos="18000">
                <a:schemeClr val="accent1">
                  <a:lumMod val="90000"/>
                  <a:lumOff val="10000"/>
                  <a:alpha val="40000"/>
                </a:schemeClr>
              </a:gs>
              <a:gs pos="81000">
                <a:schemeClr val="accent1">
                  <a:alpha val="2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2" name="任意多边形: 形状 51"/>
          <p:cNvSpPr>
            <a:spLocks noGrp="1"/>
          </p:cNvSpPr>
          <p:nvPr/>
        </p:nvSpPr>
        <p:spPr>
          <a:xfrm>
            <a:off x="8558908" y="1617779"/>
            <a:ext cx="2394533" cy="127321"/>
          </a:xfrm>
          <a:custGeom>
            <a:avLst/>
            <a:gdLst>
              <a:gd name="connsiteX0" fmla="*/ 0 w 2394533"/>
              <a:gd name="connsiteY0" fmla="*/ 0 h 127321"/>
              <a:gd name="connsiteX1" fmla="*/ 2394533 w 2394533"/>
              <a:gd name="connsiteY1" fmla="*/ 0 h 127321"/>
              <a:gd name="connsiteX2" fmla="*/ 2394533 w 2394533"/>
              <a:gd name="connsiteY2" fmla="*/ 127321 h 127321"/>
              <a:gd name="connsiteX3" fmla="*/ 0 w 2394533"/>
              <a:gd name="connsiteY3" fmla="*/ 127321 h 127321"/>
            </a:gdLst>
            <a:ahLst/>
            <a:cxnLst/>
            <a:rect l="l" t="t" r="r" b="b"/>
            <a:pathLst>
              <a:path w="2394533" h="127321">
                <a:moveTo>
                  <a:pt x="0" y="0"/>
                </a:moveTo>
                <a:lnTo>
                  <a:pt x="2394533" y="0"/>
                </a:lnTo>
                <a:lnTo>
                  <a:pt x="2394533" y="127321"/>
                </a:lnTo>
                <a:lnTo>
                  <a:pt x="0" y="127321"/>
                </a:lnTo>
                <a:close/>
              </a:path>
            </a:pathLst>
          </a:custGeom>
          <a:gradFill>
            <a:gsLst>
              <a:gs pos="18000">
                <a:schemeClr val="accent1">
                  <a:lumMod val="90000"/>
                  <a:lumOff val="10000"/>
                  <a:alpha val="40000"/>
                </a:schemeClr>
              </a:gs>
              <a:gs pos="81000">
                <a:schemeClr val="accent1">
                  <a:alpha val="2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692893" y="1995382"/>
            <a:ext cx="2126561" cy="41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现实接入仍需扩展</a:t>
            </a:r>
            <a:endParaRPr sz="165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2300389" y="1483368"/>
            <a:ext cx="1581825" cy="14622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260938" y="1963278"/>
            <a:ext cx="1660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</a:rPr>
              <a:t>现阶段边界</a:t>
            </a:r>
            <a:endParaRPr sz="2000" b="1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4869712" y="-1084521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3921661" y="1629889"/>
            <a:ext cx="36163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在保持现有架构稳定的基础上，逐步扩大实验覆盖面，补充多维评价证据，并增强与真实数据和边缘设备的兼容性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3" name="图形 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65385" y="5932120"/>
            <a:ext cx="914400" cy="914400"/>
          </a:xfrm>
          <a:prstGeom prst="rect">
            <a:avLst/>
          </a:prstGeom>
        </p:spPr>
      </p:pic>
      <p:pic>
        <p:nvPicPr>
          <p:cNvPr id="134" name="图形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32" y="5351562"/>
            <a:ext cx="914400" cy="914400"/>
          </a:xfrm>
          <a:prstGeom prst="rect">
            <a:avLst/>
          </a:prstGeom>
        </p:spPr>
      </p:pic>
      <p:pic>
        <p:nvPicPr>
          <p:cNvPr id="135" name="图形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5393" y="3410555"/>
            <a:ext cx="784061" cy="78406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4869712" y="-1084521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0" name="文本框 2"/>
          <p:cNvSpPr>
            <a:spLocks noGrp="1"/>
          </p:cNvSpPr>
          <p:nvPr/>
        </p:nvSpPr>
        <p:spPr>
          <a:xfrm>
            <a:off x="2773086" y="374000"/>
            <a:ext cx="9164913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4.3 未来展望：扩大验证，增强落地能力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354554" y="1132048"/>
            <a:ext cx="4642930" cy="411116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1450" tIns="152400" rIns="171450" bIns="114300" anchor="t">
            <a:noAutofit/>
          </a:bodyPr>
          <a:lstStyle/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354554" y="1132047"/>
            <a:ext cx="4642929" cy="713176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</a:rPr>
              <a:t>评价与算法深化</a:t>
            </a:r>
            <a:endParaRPr sz="2000">
              <a:solidFill>
                <a:schemeClr val="accent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20" name="文本框 11"/>
          <p:cNvSpPr>
            <a:spLocks noGrp="1"/>
          </p:cNvSpPr>
          <p:nvPr/>
        </p:nvSpPr>
        <p:spPr>
          <a:xfrm>
            <a:off x="2397489" y="1297326"/>
            <a:ext cx="4642929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b="1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320117" y="1132047"/>
            <a:ext cx="4527150" cy="411116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1450" tIns="152400" rIns="171450" bIns="114300" anchor="t">
            <a:noAutofit/>
          </a:bodyPr>
          <a:lstStyle/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320117" y="1132048"/>
            <a:ext cx="4527150" cy="713177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</a:rPr>
              <a:t>工程与应用扩展</a:t>
            </a:r>
            <a:endParaRPr sz="2000">
              <a:solidFill>
                <a:schemeClr val="accent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29" name="矩形: 剪去对角 28"/>
          <p:cNvSpPr>
            <a:spLocks noGrp="1"/>
          </p:cNvSpPr>
          <p:nvPr/>
        </p:nvSpPr>
        <p:spPr>
          <a:xfrm>
            <a:off x="2264741" y="5808503"/>
            <a:ext cx="9632306" cy="792164"/>
          </a:xfrm>
          <a:prstGeom prst="snip2Diag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下一阶段</a:t>
            </a:r>
            <a:r>
              <a:rPr sz="16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：</a:t>
            </a:r>
            <a:r>
              <a:rPr sz="16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在保持架构稳定基础上，扩大实验覆盖面、补齐多维证据、增强真实数据与边缘设备兼容性。</a:t>
            </a:r>
            <a:endParaRPr sz="1600" b="1">
              <a:solidFill>
                <a:srgbClr val="FFFFFF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32" name="梯形 31"/>
          <p:cNvSpPr>
            <a:spLocks noGrp="1"/>
          </p:cNvSpPr>
          <p:nvPr/>
        </p:nvSpPr>
        <p:spPr>
          <a:xfrm>
            <a:off x="2339560" y="5716731"/>
            <a:ext cx="9467914" cy="279313"/>
          </a:xfrm>
          <a:prstGeom prst="trapezoid">
            <a:avLst>
              <a:gd name="adj" fmla="val 203099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6000">
                <a:schemeClr val="accent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1" name="文本框 40"/>
          <p:cNvSpPr>
            <a:spLocks noGrp="1"/>
          </p:cNvSpPr>
          <p:nvPr/>
        </p:nvSpPr>
        <p:spPr>
          <a:xfrm>
            <a:off x="2549562" y="2010501"/>
            <a:ext cx="4252912" cy="2217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显著性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检验、置信区间与安全指标（冲突、急减速）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针对低流量路口优化最小绿灯与切换惩罚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 LLM 建议经动作掩码参与策略校验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>
            <a:spLocks noGrp="1"/>
          </p:cNvSpPr>
          <p:nvPr/>
        </p:nvSpPr>
        <p:spPr>
          <a:xfrm>
            <a:off x="7595796" y="2010501"/>
            <a:ext cx="3691329" cy="221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真实交通流样本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开展迁移学习与部署复验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统一奖励版本、接口说明与复现记录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保持云端慢分析、边缘快控制的职责边界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0" name="图片 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5550" y="3922549"/>
            <a:ext cx="1657349" cy="127135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-635" y="1107625"/>
            <a:ext cx="12193270" cy="53605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07975" y="0"/>
            <a:ext cx="257810" cy="830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747214" y="325396"/>
            <a:ext cx="2882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参考文献</a:t>
            </a:r>
            <a:endParaRPr sz="2800" b="1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6" name="椭圆 45"/>
          <p:cNvSpPr>
            <a:spLocks noGrp="1"/>
          </p:cNvSpPr>
          <p:nvPr/>
        </p:nvSpPr>
        <p:spPr>
          <a:xfrm>
            <a:off x="842415" y="1855220"/>
            <a:ext cx="467995" cy="467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894284" y="1907090"/>
            <a:ext cx="364256" cy="3642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58" name="表格 11"/>
          <p:cNvGraphicFramePr/>
          <p:nvPr/>
        </p:nvGraphicFramePr>
        <p:xfrm>
          <a:off x="367295" y="1180251"/>
          <a:ext cx="11774729" cy="5215300"/>
        </p:xfrm>
        <a:graphic>
          <a:graphicData uri="http://schemas.openxmlformats.org/drawingml/2006/table">
            <a:tbl>
              <a:tblPr/>
              <a:tblGrid>
                <a:gridCol w="446233"/>
                <a:gridCol w="11328496"/>
              </a:tblGrid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B. Cottier, R. Rahman, L. Fattorini, et al., “The rising costs of training frontier AI models,”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arXiv preprint arXiv:2405.21015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[2]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P. Villalobos, A. Ho, J. Sevilla, et al., “Position: will we run out of data? limits of LLM scaling based on human-generated data,”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Proceedings of the 41st International Conference on Machine Learning (ICML)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2024, pp. 1–22.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[3]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A. Ho, T. Besiroglu, E. Erdil, et al., “Algorithmic progress in language models,”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Advances in Neural Information Processing Systems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37, pp. 58245–58283, 2024.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[4]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P. Röttger, F. Pernisi, B. Vidgen, et al., “Safetyprompts: a systematic review of open datasets for evaluating and improving large language model safety,”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Proceedings of the AAAI Conference on Artificial Intelligence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39, no. 26, pp. 27617–27627, 2025.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[5]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N. Nangia, C. Vania, R. Bhalerao, et al., “CrowS-Pairs: A Challenge Dataset for Measuring Social Biases in Masked Language Models,”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Proceedings of the 2020 Conference on Empirical Methods in Natural Language Processing (EMNLP)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2020, pp. 1953–1967.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[6]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J. Li, X. Cheng, W. X. Zhao, et al., “HaluEval: A Large-Scale Hallucination Evaluation Benchmark for Large Language Models,”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Proceedings of the 2023 Conference on Empirical Methods in Natural Language Processing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2023, pp. 6449–6464.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[7]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H. Ullrich, J. Drchal, M. Rýpar, et al., “CsFEVER and CTKFacts: acquiring Czech data for fact verification,”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Language Resources and Evaluation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57, no. 4, pp. 1571–1605, 2023.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[8]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W. Su, Y. Hu, A. Xie, et al., “STARD: A Chinese Statute Retrieval Dataset with Real Queries Issued by Non-professionals,”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arXiv preprint arXiv:2406.15313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[9]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Y. Xiao, Y. Hu, K.-K. R. Choo, et al., “ToxiCloakCN: Evaluating Robustness of Offensive Language Detection in Chinese with Cloaking Perturbations,”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arXiv preprint arXiv:2406.12223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[10]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T. Brown, B. Mann, N. Ryder, et al., “Language models are few-shot learners,”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Advances in neural information processing systems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33, pp. 1877–1901, 2020.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[11]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J. Wei, X. Wang, D. Schuurmans, et al., “Chain-of-thought prompting elicits reasoning in large language models,”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Advances in neural information processing systems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35, pp. 24824–24837, 2022.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[12]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H. W. Chung, L. Hou, S. Longpre, et al., “Scaling instruction-finetuned language models,”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Journal of Machine Learning Research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25, no. 70, pp. 1–53, 2024.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[13]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N. Ho, L. Schmid, and S.-Y. Yun, “Large language models are reasoning teachers,”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arXiv preprint arXiv:2212.10071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2022.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9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[14]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J. Devlin, M.-W. Chang, K. Lee, and K. Toutanova, “Bert: Pre-training of deep bidirectional transformers for language understanding,”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Proceedings of the 2019 conference of the North American chapter of the association for computational linguistics: human language technologies, volume 1 (long and short papers)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2019, pp. 4171–4186.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[15]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I. Beltagy, M. E. Peters, and A. Cohan, “Longformer: The long-document transformer,”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arXiv preprint arXiv:2004.05150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2020.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[16]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M. Ding, C. Zhou, H. Yang, et al., “Cogltx: Applying bert to long texts,”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Advances in Neural Information Processing Systems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33, pp. 12792–12804, 2020.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[17]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A. Vaswani, N. Shazeer, N. Parmar, et al., “Attention is all you need,”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Proceedings of the 31st International Conference on Neural Information Processing Systems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2017, pp. 6000–6010.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[18]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Y. Liu, M. Ott, N. Goyal, et al., “Roberta: A robustly optimized bert pretraining approach,”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arXiv preprint arXiv:1907.11692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2019.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6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[19]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全国网络安全标准化技术委员会, “生成式人工智能服务安全基本要求：TC260-003,”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全国网络安全标准化技术委员会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2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3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4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5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6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7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8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9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10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11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12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13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ags/tag14.xml><?xml version="1.0" encoding="utf-8"?>
<p:tagLst xmlns:p="http://schemas.openxmlformats.org/presentationml/2006/main">
  <p:tag name="KSO_WM_DIAGRAM_VIRTUALLY_FRAME" val="{&quot;height&quot;:516.95,&quot;left&quot;:179.27999999999994,&quot;top&quot;:20.15999999999999,&quot;width&quot;:758.1600000000001}"/>
</p:tagLst>
</file>

<file path=ppt/theme/theme1.xml><?xml version="1.0" encoding="utf-8"?>
<a:theme xmlns:a="http://schemas.openxmlformats.org/drawingml/2006/main" name="原创作者：剑如虹设计">
  <a:themeElements>
    <a:clrScheme name="剑如虹（蓝色）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54286"/>
      </a:accent1>
      <a:accent2>
        <a:srgbClr val="DEA74A"/>
      </a:accent2>
      <a:accent3>
        <a:srgbClr val="C8102E"/>
      </a:accent3>
      <a:accent4>
        <a:srgbClr val="D3385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商务风">
      <a:majorFont>
        <a:latin typeface="Montserrat Black"/>
        <a:ea typeface="HarmonyOS Sans SC Black"/>
        <a:cs typeface=""/>
      </a:majorFont>
      <a:minorFont>
        <a:latin typeface="Montserrat"/>
        <a:ea typeface="HarmonyOS Sans SC"/>
        <a:cs typeface=""/>
      </a:minorFont>
    </a:fontScheme>
    <a:fmtScheme name="剑如虹（蓝色）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原创作者：剑如虹设计">
  <a:themeElements>
    <a:clrScheme name="剑如虹（蓝色）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54286"/>
      </a:accent1>
      <a:accent2>
        <a:srgbClr val="DEA74A"/>
      </a:accent2>
      <a:accent3>
        <a:srgbClr val="C8102E"/>
      </a:accent3>
      <a:accent4>
        <a:srgbClr val="D3385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商务风">
      <a:majorFont>
        <a:latin typeface="Montserrat Black"/>
        <a:ea typeface="HarmonyOS Sans SC Black"/>
        <a:cs typeface=""/>
      </a:majorFont>
      <a:minorFont>
        <a:latin typeface="Montserrat"/>
        <a:ea typeface="HarmonyOS Sans SC"/>
        <a:cs typeface=""/>
      </a:minorFont>
    </a:fontScheme>
    <a:fmtScheme name="剑如虹（蓝色）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8891</Words>
  <Application>WPS 演示</Application>
  <PresentationFormat>Converted Presentation</PresentationFormat>
  <Paragraphs>652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50" baseType="lpstr">
      <vt:lpstr>Arial</vt:lpstr>
      <vt:lpstr>宋体</vt:lpstr>
      <vt:lpstr>Wingdings</vt:lpstr>
      <vt:lpstr>Arial</vt:lpstr>
      <vt:lpstr>HarmonyOS Sans SC</vt:lpstr>
      <vt:lpstr>HarmonyOS Sans SC Black</vt:lpstr>
      <vt:lpstr>Liberation Mono</vt:lpstr>
      <vt:lpstr>阿里妈妈方圆体 VF SemiBold</vt:lpstr>
      <vt:lpstr>演示流云楷</vt:lpstr>
      <vt:lpstr>华文楷体</vt:lpstr>
      <vt:lpstr>微软雅黑</vt:lpstr>
      <vt:lpstr>Calibri</vt:lpstr>
      <vt:lpstr>Wingdings</vt:lpstr>
      <vt:lpstr>思源宋体 CN Heavy</vt:lpstr>
      <vt:lpstr>黑体</vt:lpstr>
      <vt:lpstr>Arial Unicode MS</vt:lpstr>
      <vt:lpstr>Montserrat</vt:lpstr>
      <vt:lpstr>Google Sans Text</vt:lpstr>
      <vt:lpstr>Calibri</vt:lpstr>
      <vt:lpstr>Google Sans Text</vt:lpstr>
      <vt:lpstr>HarmonyOS Sans SC</vt:lpstr>
      <vt:lpstr>HarmonyOS Sans SC Black</vt:lpstr>
      <vt:lpstr>Wingdings</vt:lpstr>
      <vt:lpstr>思源宋体 CN Heavy</vt:lpstr>
      <vt:lpstr>演示流云楷</vt:lpstr>
      <vt:lpstr>KSOFE22CBF3B</vt:lpstr>
      <vt:lpstr>KSOFE22D339A</vt:lpstr>
      <vt:lpstr>原创作者：剑如虹设计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</cp:lastModifiedBy>
  <cp:revision>1</cp:revision>
  <dcterms:created xsi:type="dcterms:W3CDTF">2026-09-09T23:47:24Z</dcterms:created>
  <dcterms:modified xsi:type="dcterms:W3CDTF">2026-09-09T23:47:25Z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A3E9DD55DE3F43C59DCB2E3E8C54187C_12</vt:lpwstr>
  </property>
</Properties>
</file>